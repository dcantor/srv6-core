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address. Every part of the session explains one slot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The single idea. Everything else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Whiteboard 1 starts here: draw the triangle and the four lanes.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Live: show isis neighbor; show ipv6 route isis | grep fd00:c:; ip -6 route show | grep seg6local on p2 and pe1.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1 ends here. Expect 'where is the tunnel?' — there is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Live: show bgp ipv4 vpn summary; show bgp ipv4 vpn 172.20.3.0/24 on pe1.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2 ends. Then act 3: the 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3 live. Ping, capture, traceroute, the failed cross-tenant 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people remember. Then act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slide. Point at the byte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act 5 while talking. Say: interfaces stay up, watch the ping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render --check, the portal state, one Grafana dashboard, the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interview material: each of these is a 'tell me about a time you debugged something'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the walkthrough PDF and the question bank.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SRv6 L3VPN, shown on real boxes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97A3B1"/>
                </a:solidFill>
                <a:latin typeface="Calibri"/>
              </a:rPr>
              <a:t>A whiteboard session with proof: seven VyOS routers, two tenants, one packet followed hop by hop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0624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D2A41"/>
          </a:solidFill>
          <a:ln w="12700">
            <a:solidFill>
              <a:srgbClr val="7EA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427939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A9C3F5"/>
                </a:solidFill>
                <a:latin typeface="Courier New"/>
              </a:rPr>
              <a:t>fd00:c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36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D6977"/>
                </a:solidFill>
                <a:latin typeface="Calibri"/>
              </a:rPr>
              <a:t>block · 32 bits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420624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3D2116"/>
          </a:solidFill>
          <a:ln w="12700">
            <a:solidFill>
              <a:srgbClr val="F09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240280" y="427939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F0905F"/>
                </a:solidFill>
                <a:latin typeface="Courier New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4736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D6977"/>
                </a:solidFill>
                <a:latin typeface="Calibri"/>
              </a:rPr>
              <a:t>p1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420624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3D2116"/>
          </a:solidFill>
          <a:ln w="12700">
            <a:solidFill>
              <a:srgbClr val="F09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49039" y="427939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F0905F"/>
                </a:solidFill>
                <a:latin typeface="Courier New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736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D6977"/>
                </a:solidFill>
                <a:latin typeface="Calibri"/>
              </a:rPr>
              <a:t>p3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799" y="420624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3D2116"/>
          </a:solidFill>
          <a:ln w="12700">
            <a:solidFill>
              <a:srgbClr val="F09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257799" y="427939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F0905F"/>
                </a:solidFill>
                <a:latin typeface="Courier New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799" y="4736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D6977"/>
                </a:solidFill>
                <a:latin typeface="Calibri"/>
              </a:rPr>
              <a:t>pe3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59" y="420624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D2A41"/>
          </a:solidFill>
          <a:ln w="12700">
            <a:solidFill>
              <a:srgbClr val="7EA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66559" y="427939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A9C3F5"/>
                </a:solidFill>
                <a:latin typeface="Courier New"/>
              </a:rPr>
              <a:t>e001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4736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D6977"/>
                </a:solidFill>
                <a:latin typeface="Calibri"/>
              </a:rPr>
              <a:t>uDT4 · tenant-b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420624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D2A41"/>
          </a:solidFill>
          <a:ln w="12700">
            <a:solidFill>
              <a:srgbClr val="7EA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75320" y="427939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A9C3F5"/>
                </a:solidFill>
                <a:latin typeface="Courier New"/>
              </a:rPr>
              <a:t>::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736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D6977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7A3B1"/>
                </a:solidFill>
                <a:latin typeface="Calibri"/>
              </a:rPr>
              <a:t>one address, five instructions — the whole session in a 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Arial"/>
              </a:rPr>
              <a:t>Why SRv6: the instructions move into the address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D6977"/>
                </a:solidFill>
                <a:latin typeface="Calibri"/>
              </a:rPr>
              <a:t>What an SRv6 core does not 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2454A6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D6977"/>
                </a:solidFill>
                <a:latin typeface="Calibri"/>
              </a:rPr>
              <a:t>label tables, LDP, RSVP —</a:t>
            </a:r>
          </a:p>
          <a:p>
            <a:pPr algn="l"/>
            <a:r>
              <a:rPr sz="1500" b="0" i="0">
                <a:solidFill>
                  <a:srgbClr val="5D6977"/>
                </a:solidFill>
                <a:latin typeface="Calibri"/>
              </a:rPr>
              <a:t>no signalling protocol for transport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59" y="182880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B7481B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31089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D6977"/>
                </a:solidFill>
                <a:latin typeface="Calibri"/>
              </a:rPr>
              <a:t>extra header: IPv6</a:t>
            </a:r>
          </a:p>
          <a:p>
            <a:pPr algn="l"/>
            <a:r>
              <a:rPr sz="1500" b="0" i="0">
                <a:solidFill>
                  <a:srgbClr val="5D6977"/>
                </a:solidFill>
                <a:latin typeface="Calibri"/>
              </a:rPr>
              <a:t>(and often no SRH at all)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2454A6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1089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D6977"/>
                </a:solidFill>
                <a:latin typeface="Calibri"/>
              </a:rPr>
              <a:t>per-tunnel state in the core —</a:t>
            </a:r>
          </a:p>
          <a:p>
            <a:pPr algn="l"/>
            <a:r>
              <a:rPr sz="1500" b="0" i="0">
                <a:solidFill>
                  <a:srgbClr val="5D6977"/>
                </a:solidFill>
                <a:latin typeface="Calibri"/>
              </a:rPr>
              <a:t>P routers only route IPv6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698480" cy="1463040"/>
          </a:xfrm>
          <a:prstGeom prst="roundRect">
            <a:avLst>
              <a:gd name="adj" fmla="val 6250"/>
            </a:avLst>
          </a:prstGeom>
          <a:solidFill>
            <a:srgbClr val="E3EBF8"/>
          </a:solidFill>
          <a:ln w="12700">
            <a:solidFill>
              <a:srgbClr val="24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5840" y="4754880"/>
            <a:ext cx="10149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73A78"/>
                </a:solidFill>
                <a:latin typeface="Calibri"/>
              </a:rPr>
              <a:t>A SID is an address that means "do this when you own me". End = forward. End.X = out this link. End.DT4 = strip the IPv6 header and look the inner IPv4 packet up in this VRF. A router that does not own the address just routes IPv6 — that is the entire 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Arial"/>
              </a:rPr>
              <a:t>The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D6977"/>
                </a:solidFill>
                <a:latin typeface="Calibri"/>
              </a:rPr>
              <a:t>4 data centres · 3 P routers · 2 tenants · 19 VMs on one host</a:t>
            </a:r>
          </a:p>
        </p:txBody>
      </p:sp>
      <p:pic>
        <p:nvPicPr>
          <p:cNvPr id="4" name="Picture 3" descr="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64240" cy="54560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7"/>
                </a:solidFill>
                <a:latin typeface="Calibri"/>
              </a:rPr>
              <a:t>VyOS rolling (FRR 10.6, Linux 6.18) · IS-IS L2, IPv6-only, MTU 9000 · uSID fd00:c::/32 · reflectors p1 + p3 · BFD everywhere · Alpine hosts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Arial"/>
              </a:rPr>
              <a:t>A locator is a prefix; a SID is an instruction inside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D6977"/>
                </a:solidFill>
                <a:latin typeface="Calibri"/>
              </a:rPr>
              <a:t>Whiteboard 1 — uSID structure f3216: block 32 bits · node 16 · function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E3EBF8"/>
          </a:solidFill>
          <a:ln w="12700">
            <a:solidFill>
              <a:srgbClr val="24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173A78"/>
                </a:solidFill>
                <a:latin typeface="Courier New"/>
              </a:rPr>
              <a:t>fd00:c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591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D6977"/>
                </a:solidFill>
                <a:latin typeface="Calibri"/>
              </a:rPr>
              <a:t>block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BE9DF"/>
          </a:solidFill>
          <a:ln w="12700">
            <a:solidFill>
              <a:srgbClr val="B748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74720" y="190195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B7481B"/>
                </a:solidFill>
                <a:latin typeface="Courier New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3591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D6977"/>
                </a:solidFill>
                <a:latin typeface="Calibri"/>
              </a:rPr>
              <a:t>node: pe3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E3EBF8"/>
          </a:solidFill>
          <a:ln w="12700">
            <a:solidFill>
              <a:srgbClr val="24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17920" y="190195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173A78"/>
                </a:solidFill>
                <a:latin typeface="Courier New"/>
              </a:rPr>
              <a:t>e000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591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D6977"/>
                </a:solidFill>
                <a:latin typeface="Calibri"/>
              </a:rPr>
              <a:t>function: End.DT4, tenant-a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82880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EDF0F5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961120" y="190195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5D6977"/>
                </a:solidFill>
                <a:latin typeface="Courier New"/>
              </a:rPr>
              <a:t>::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3591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D6977"/>
                </a:solidFill>
                <a:latin typeface="Calibri"/>
              </a:rPr>
              <a:t>zeros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ourier New"/>
              </a:rPr>
              <a:t>fd00:c:3::/48        pe3's locator, advertised in IS-IS like any prefix</a:t>
            </a:r>
          </a:p>
          <a:p>
            <a:pPr algn="l"/>
            <a:r>
              <a:rPr sz="1400" b="0" i="0">
                <a:solidFill>
                  <a:srgbClr val="1B2430"/>
                </a:solidFill>
                <a:latin typeface="Courier New"/>
              </a:rPr>
              <a:t>fd00:c:3:e000::      pe3's End.DT4 for tenant-a (allocated by FRR at run time)</a:t>
            </a:r>
          </a:p>
          <a:p>
            <a:pPr algn="l"/>
            <a:r>
              <a:rPr sz="1400" b="0" i="0">
                <a:solidFill>
                  <a:srgbClr val="1B2430"/>
                </a:solidFill>
                <a:latin typeface="Courier New"/>
              </a:rPr>
              <a:t>fd00:c:3:e002::/64   an End.X: out pe3's eth1, to p2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5212080" cy="1645920"/>
          </a:xfrm>
          <a:prstGeom prst="roundRect">
            <a:avLst>
              <a:gd name="adj" fmla="val 5555"/>
            </a:avLst>
          </a:prstGeom>
          <a:solidFill>
            <a:srgbClr val="EDF0F5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What IS-IS carries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48463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The /48 (an ordinary prefix) plus SRv6 sub-TLVs: how deep an SRH the node can process (SRH Max SL 3), how many segments it can push. Nothing new on the wire.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572000"/>
            <a:ext cx="5212080" cy="1645920"/>
          </a:xfrm>
          <a:prstGeom prst="roundRect">
            <a:avLst>
              <a:gd name="adj" fmla="val 5555"/>
            </a:avLst>
          </a:prstGeom>
          <a:solidFill>
            <a:srgbClr val="EDF0F5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00800" y="47091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What the kernel holds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120640"/>
            <a:ext cx="48463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seg6local routes on the owner only: End (uN) for the /48, one End.X (uA) per adjacency, one End.DT4 per tenant VRF on a PE. A P router has exactly the first two kinds.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Arial"/>
              </a:rPr>
              <a:t>Three instructions are enough for an L3VPN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D6977"/>
                </a:solidFill>
                <a:latin typeface="Calibri"/>
              </a:rPr>
              <a:t>Each is one seg6local route on the node that owns the address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  <a:gridCol w="4023360"/>
                <a:gridCol w="1737360"/>
                <a:gridCol w="109728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430"/>
                          </a:solidFill>
                          <a:latin typeface="Calibri"/>
                        </a:rPr>
                        <a:t>behaviour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430"/>
                          </a:solidFill>
                          <a:latin typeface="Calibri"/>
                        </a:rPr>
                        <a:t>example SID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430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430"/>
                          </a:solidFill>
                          <a:latin typeface="Calibri"/>
                        </a:rPr>
                        <a:t>installed by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B2430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>
                    <a:solidFill>
                      <a:srgbClr val="EDF0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End  (uN)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ourier New"/>
                        </a:rPr>
                        <a:t>fd00:c:12::/48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shift the next uSID into place and forward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isisd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every core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End.X  (uA)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ourier New"/>
                        </a:rPr>
                        <a:t>fd00:c:12:e003::/64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forward out this adjacency, regardless of the IGP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isisd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every core 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End.DT4  (uDT4)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Courier New"/>
                        </a:rPr>
                        <a:t>fd00:c:1:e001::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decapsulate; route the inner IPv4 packet in VRF tenant-a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bgpd (sid vpn export auto)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PEs, one per tenant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48056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BE9DF"/>
          </a:solidFill>
          <a:ln w="12700">
            <a:solidFill>
              <a:srgbClr val="B748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4617720"/>
            <a:ext cx="105156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7481B"/>
                </a:solidFill>
                <a:latin typeface="Calibri"/>
              </a:rPr>
              <a:t>The non-textbook part.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Linux scopes the SRv6 encapsulation's outer lookup to the ingress VRF for forwarded packets. Without a route to the remote locator inside the tenant table, every encapsulated packet is dropped (Ip6OutNoRoutes). The renderer leaks each locator into each VRF via the attached P routers on the IGP shortest path, plus the whole block as a fallback. You only learn this by building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Arial"/>
              </a:rPr>
              <a:t>The overlay is the BGP VPN you already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D6977"/>
                </a:solidFill>
                <a:latin typeface="Calibri"/>
              </a:rPr>
              <a:t>Whiteboard 2 — a SID where the label used to be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685800"/>
          </a:xfrm>
          <a:prstGeom prst="roundRect">
            <a:avLst>
              <a:gd name="adj" fmla="val 10666"/>
            </a:avLst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B2430"/>
                </a:solidFill>
                <a:latin typeface="Arial"/>
              </a:rPr>
              <a:t>pe1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0428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D6977"/>
                </a:solidFill>
                <a:latin typeface="Courier New"/>
              </a:rPr>
              <a:t>VRF tenant-a · tenant-b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2011680"/>
            <a:ext cx="2011680" cy="685800"/>
          </a:xfrm>
          <a:prstGeom prst="roundRect">
            <a:avLst>
              <a:gd name="adj" fmla="val 10666"/>
            </a:avLst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418320" y="20574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B2430"/>
                </a:solidFill>
                <a:latin typeface="Arial"/>
              </a:rPr>
              <a:t>pe3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30428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D6977"/>
                </a:solidFill>
                <a:latin typeface="Courier New"/>
              </a:rPr>
              <a:t>VRF tenant-a · tenant-b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645920"/>
            <a:ext cx="1828800" cy="640080"/>
          </a:xfrm>
          <a:prstGeom prst="roundRect">
            <a:avLst>
              <a:gd name="adj" fmla="val 11428"/>
            </a:avLst>
          </a:prstGeom>
          <a:solidFill>
            <a:srgbClr val="FDE7D6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840480" y="1691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B2430"/>
                </a:solidFill>
                <a:latin typeface="Arial"/>
              </a:rPr>
              <a:t>p1 · 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93852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D6977"/>
                </a:solidFill>
                <a:latin typeface="Courier New"/>
              </a:rPr>
              <a:t>fd00:a::11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45920"/>
            <a:ext cx="1828800" cy="640080"/>
          </a:xfrm>
          <a:prstGeom prst="roundRect">
            <a:avLst>
              <a:gd name="adj" fmla="val 11428"/>
            </a:avLst>
          </a:prstGeom>
          <a:solidFill>
            <a:srgbClr val="FDE7D6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B2430"/>
                </a:solidFill>
                <a:latin typeface="Arial"/>
              </a:rPr>
              <a:t>p3 · 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3852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D6977"/>
                </a:solidFill>
                <a:latin typeface="Courier New"/>
              </a:rPr>
              <a:t>fd00:a::13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743200" y="1965960"/>
            <a:ext cx="1097280" cy="365760"/>
          </a:xfrm>
          <a:prstGeom prst="line">
            <a:avLst/>
          </a:prstGeom>
          <a:ln w="19050">
            <a:solidFill>
              <a:srgbClr val="B74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743200" y="1965960"/>
            <a:ext cx="3749040" cy="411480"/>
          </a:xfrm>
          <a:prstGeom prst="line">
            <a:avLst/>
          </a:prstGeom>
          <a:ln w="19050">
            <a:solidFill>
              <a:srgbClr val="B74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8321040" y="1965960"/>
            <a:ext cx="1097280" cy="365760"/>
          </a:xfrm>
          <a:prstGeom prst="line">
            <a:avLst/>
          </a:prstGeom>
          <a:ln w="19050">
            <a:solidFill>
              <a:srgbClr val="B74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5669280" y="1965960"/>
            <a:ext cx="3749040" cy="411480"/>
          </a:xfrm>
          <a:prstGeom prst="line">
            <a:avLst/>
          </a:prstGeom>
          <a:ln w="19050">
            <a:solidFill>
              <a:srgbClr val="B74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926080" y="2788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D6977"/>
                </a:solidFill>
                <a:latin typeface="Calibri"/>
              </a:rPr>
              <a:t>VPNv4 over IPv6 loopback sessions (extended next hop), every PE to both reflectors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383280"/>
            <a:ext cx="10698480" cy="1417320"/>
          </a:xfrm>
          <a:prstGeom prst="roundRect">
            <a:avLst>
              <a:gd name="adj" fmla="val 6451"/>
            </a:avLst>
          </a:prstGeom>
          <a:solidFill>
            <a:srgbClr val="EDF0F5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05840" y="352044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ourier New"/>
              </a:rPr>
              <a:t>RD 65000:103 : 172.20.3.0/24        RT:65000:100        Originator 10.255.0.3, Cluster list 10.255.0.11</a:t>
            </a:r>
          </a:p>
          <a:p>
            <a:pPr algn="l"/>
            <a:r>
              <a:rPr sz="1300" b="0" i="0">
                <a:solidFill>
                  <a:srgbClr val="1B2430"/>
                </a:solidFill>
                <a:latin typeface="Courier New"/>
              </a:rPr>
              <a:t>Remote SID: fd00:c:3::   sid structure=[32 16 16 0 16 48]        Remote labels: 917504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9768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7"/>
                </a:solidFill>
                <a:latin typeface="Calibri"/>
              </a:rPr>
              <a:t>917504 = 0xE000 &lt;&lt; 4: the 16 function bits are transposed into the label field; the receiver reassembles fd00:c:3:e000::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2920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EDF0F5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4400" y="51663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Unchanged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5778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RD, RT, reflectors, import/export policy, eBGP to the CE inside the VRF.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02920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EDF0F5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572000" y="51663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Changed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5778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The transport attribute: Prefix-SID instead of a label. No LFIB anywhere.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502920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EDF0F5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29600" y="51663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Redundant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5778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Two copies of every route, one per reflector; losing p1 changes nothing (suite 06).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Arial"/>
              </a:rPr>
              <a:t>What the PE actually installs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D6977"/>
                </a:solidFill>
                <a:latin typeface="Calibri"/>
              </a:rPr>
              <a:t>No label table — a VRF route that says "wrap in IPv6 to this address"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1064240" cy="2194560"/>
          </a:xfrm>
          <a:prstGeom prst="roundRect">
            <a:avLst>
              <a:gd name="adj" fmla="val 4166"/>
            </a:avLst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1783080"/>
            <a:ext cx="105156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7A3B1"/>
                </a:solidFill>
                <a:latin typeface="Courier New"/>
              </a:rPr>
              <a:t>vyos@pe1:~$ ip route show vrf tenant-a</a:t>
            </a:r>
          </a:p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172.20.3.0/24 </a:t>
            </a:r>
            <a:r>
              <a:rPr sz="1200" b="0" i="0">
                <a:solidFill>
                  <a:srgbClr val="C9D3DE"/>
                </a:solidFill>
                <a:latin typeface="Courier New"/>
              </a:rPr>
              <a:t>nhid 96  encap seg6 mode encap segs 1 [ </a:t>
            </a:r>
            <a:r>
              <a:rPr sz="1200" b="1" i="0">
                <a:solidFill>
                  <a:srgbClr val="F0905F"/>
                </a:solidFill>
                <a:latin typeface="Courier New"/>
              </a:rPr>
              <a:t>fd00:c:3:e000::</a:t>
            </a:r>
            <a:r>
              <a:rPr sz="1200" b="0" i="0">
                <a:solidFill>
                  <a:srgbClr val="C9D3DE"/>
                </a:solidFill>
                <a:latin typeface="Courier New"/>
              </a:rPr>
              <a:t> ] via inet6 fe80::…:603 dev eth2 proto bgp</a:t>
            </a:r>
          </a:p>
          <a:p>
            <a:pPr algn="l"/>
            <a:r>
              <a:rPr sz="1200" b="1" i="0">
                <a:solidFill>
                  <a:srgbClr val="FFFFFF"/>
                </a:solidFill>
                <a:latin typeface="Courier New"/>
              </a:rPr>
              <a:t>172.20.2.0/24 </a:t>
            </a:r>
            <a:r>
              <a:rPr sz="1200" b="0" i="0">
                <a:solidFill>
                  <a:srgbClr val="C9D3DE"/>
                </a:solidFill>
                <a:latin typeface="Courier New"/>
              </a:rPr>
              <a:t>nhid 82 proto bgp</a:t>
            </a:r>
          </a:p>
          <a:p>
            <a:pPr algn="l"/>
            <a:r>
              <a:rPr sz="1200" b="0" i="0">
                <a:solidFill>
                  <a:srgbClr val="C9D3DE"/>
                </a:solidFill>
                <a:latin typeface="Courier New"/>
              </a:rPr>
              <a:t>    nexthop  encap seg6 mode encap segs 1 [ fd00:c:2:e001:: ] via … dev eth1 weight 1</a:t>
            </a:r>
          </a:p>
          <a:p>
            <a:pPr algn="l"/>
            <a:r>
              <a:rPr sz="1200" b="0" i="0">
                <a:solidFill>
                  <a:srgbClr val="C9D3DE"/>
                </a:solidFill>
                <a:latin typeface="Courier New"/>
              </a:rPr>
              <a:t>    nexthop  encap seg6 mode encap segs 1 [ fd00:c:2:e001:: ] via … dev eth2 weight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976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EDF0F5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One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The destination address is the whole instruction: pe3's End.DT4 for tenant-a. Out eth2 because pe3's locator is shortest via p2.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2976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EDF0F5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80560" y="4434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ECMP for 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84632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The dc2 LAN has two next hops: pe2 is equidistant via p1 and p2. Nothing configured — it falls out of the IGP.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2976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EDF0F5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0" y="4434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The CE sees nothing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4632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Plain eBGP routes from its PE. No SRv6, no IPv6, no idea there is a 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Arial"/>
              </a:rPr>
              <a:t>Packet walk: dc1-h1 → dc3-h1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D6977"/>
                </a:solidFill>
                <a:latin typeface="Calibri"/>
              </a:rPr>
              <a:t>Captured on p2, the router in the middle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371600" cy="640080"/>
          </a:xfrm>
          <a:prstGeom prst="roundRect">
            <a:avLst>
              <a:gd name="adj" fmla="val 11428"/>
            </a:avLst>
          </a:prstGeom>
          <a:solidFill>
            <a:srgbClr val="DCFCE7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B2430"/>
                </a:solidFill>
                <a:latin typeface="Arial"/>
              </a:rPr>
              <a:t>dc1-h1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042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D6977"/>
                </a:solidFill>
                <a:latin typeface="Courier New"/>
              </a:rPr>
              <a:t>172.20.1.2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11680" y="2331720"/>
            <a:ext cx="274320" cy="0"/>
          </a:xfrm>
          <a:prstGeom prst="line">
            <a:avLst/>
          </a:prstGeom>
          <a:ln w="1905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86000" y="2011680"/>
            <a:ext cx="1371600" cy="640080"/>
          </a:xfrm>
          <a:prstGeom prst="roundRect">
            <a:avLst>
              <a:gd name="adj" fmla="val 11428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286000" y="2057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B2430"/>
                </a:solidFill>
                <a:latin typeface="Arial"/>
              </a:rPr>
              <a:t>ce1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3042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D6977"/>
                </a:solidFill>
                <a:latin typeface="Courier New"/>
              </a:rPr>
              <a:t>IPv4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0" y="2331720"/>
            <a:ext cx="274320" cy="0"/>
          </a:xfrm>
          <a:prstGeom prst="line">
            <a:avLst/>
          </a:prstGeom>
          <a:ln w="1905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931920" y="2011680"/>
            <a:ext cx="1371600" cy="640080"/>
          </a:xfrm>
          <a:prstGeom prst="roundRect">
            <a:avLst>
              <a:gd name="adj" fmla="val 11428"/>
            </a:avLst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931920" y="2057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B2430"/>
                </a:solidFill>
                <a:latin typeface="Arial"/>
              </a:rPr>
              <a:t>pe1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042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D6977"/>
                </a:solidFill>
                <a:latin typeface="Courier New"/>
              </a:rPr>
              <a:t>encap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03520" y="2331720"/>
            <a:ext cx="274320" cy="0"/>
          </a:xfrm>
          <a:prstGeom prst="line">
            <a:avLst/>
          </a:prstGeom>
          <a:ln w="19050">
            <a:solidFill>
              <a:srgbClr val="B74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577840" y="2011680"/>
            <a:ext cx="1371600" cy="640080"/>
          </a:xfrm>
          <a:prstGeom prst="roundRect">
            <a:avLst>
              <a:gd name="adj" fmla="val 11428"/>
            </a:avLst>
          </a:prstGeom>
          <a:solidFill>
            <a:srgbClr val="FDE7D6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577840" y="2057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B2430"/>
                </a:solidFill>
                <a:latin typeface="Arial"/>
              </a:rPr>
              <a:t>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3042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D6977"/>
                </a:solidFill>
                <a:latin typeface="Courier New"/>
              </a:rPr>
              <a:t>IPv6 lookup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49440" y="2331720"/>
            <a:ext cx="274320" cy="0"/>
          </a:xfrm>
          <a:prstGeom prst="line">
            <a:avLst/>
          </a:prstGeom>
          <a:ln w="19050">
            <a:solidFill>
              <a:srgbClr val="B74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223760" y="2011680"/>
            <a:ext cx="1371600" cy="640080"/>
          </a:xfrm>
          <a:prstGeom prst="roundRect">
            <a:avLst>
              <a:gd name="adj" fmla="val 11428"/>
            </a:avLst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223760" y="2057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B2430"/>
                </a:solidFill>
                <a:latin typeface="Arial"/>
              </a:rPr>
              <a:t>pe3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3042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D6977"/>
                </a:solidFill>
                <a:latin typeface="Courier New"/>
              </a:rPr>
              <a:t>End.DT4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95360" y="2331720"/>
            <a:ext cx="274320" cy="0"/>
          </a:xfrm>
          <a:prstGeom prst="line">
            <a:avLst/>
          </a:prstGeom>
          <a:ln w="1905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69680" y="2011680"/>
            <a:ext cx="1371600" cy="640080"/>
          </a:xfrm>
          <a:prstGeom prst="roundRect">
            <a:avLst>
              <a:gd name="adj" fmla="val 11428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869680" y="2057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B2430"/>
                </a:solidFill>
                <a:latin typeface="Arial"/>
              </a:rPr>
              <a:t>ce3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3042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D6977"/>
                </a:solidFill>
                <a:latin typeface="Courier New"/>
              </a:rPr>
              <a:t>IPv4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241280" y="2331720"/>
            <a:ext cx="274320" cy="0"/>
          </a:xfrm>
          <a:prstGeom prst="line">
            <a:avLst/>
          </a:prstGeom>
          <a:ln w="19050">
            <a:solidFill>
              <a:srgbClr val="5D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515600" y="2011680"/>
            <a:ext cx="1371600" cy="640080"/>
          </a:xfrm>
          <a:prstGeom prst="roundRect">
            <a:avLst>
              <a:gd name="adj" fmla="val 11428"/>
            </a:avLst>
          </a:prstGeom>
          <a:solidFill>
            <a:srgbClr val="DCFCE7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515600" y="2057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B2430"/>
                </a:solidFill>
                <a:latin typeface="Arial"/>
              </a:rPr>
              <a:t>dc3-h1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23042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D6977"/>
                </a:solidFill>
                <a:latin typeface="Courier New"/>
              </a:rPr>
              <a:t>172.20.3.2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31920" y="2880360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FBE9DF"/>
          </a:solidFill>
          <a:ln w="12700">
            <a:solidFill>
              <a:srgbClr val="B748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931920" y="29443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B7481B"/>
                </a:solidFill>
                <a:latin typeface="Courier New"/>
              </a:rPr>
              <a:t>IPv6  fd00:a::1 → fd00:c:3:e000::   +  SRH (1 entry)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657600"/>
            <a:ext cx="11064240" cy="1371600"/>
          </a:xfrm>
          <a:prstGeom prst="roundRect">
            <a:avLst>
              <a:gd name="adj" fmla="val 6666"/>
            </a:avLst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2959" y="37947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7A3B1"/>
                </a:solidFill>
                <a:latin typeface="Courier New"/>
              </a:rPr>
              <a:t>vyos@p2:~$ sudo tcpdump -ni eth5 -vv 'ip6 and dst net fd00:c:3::/48'</a:t>
            </a:r>
          </a:p>
          <a:p>
            <a:pPr algn="l"/>
            <a:r>
              <a:rPr sz="1200" b="0" i="0">
                <a:solidFill>
                  <a:srgbClr val="C9D3DE"/>
                </a:solidFill>
                <a:latin typeface="Courier New"/>
              </a:rPr>
              <a:t>IP6 (hlim 62, next-header Routing (43)) fd00:a::1 &gt; fd00:c:3:e000::: RT6 (len=2, type=4, segleft=0, [0]fd00:c:3:e000::)</a:t>
            </a:r>
          </a:p>
          <a:p>
            <a:pPr algn="l"/>
            <a:r>
              <a:rPr sz="1200" b="0" i="0">
                <a:solidFill>
                  <a:srgbClr val="C9D3DE"/>
                </a:solidFill>
                <a:latin typeface="Courier New"/>
              </a:rPr>
              <a:t>    IP (ttl 63) 172.20.1.2 &gt; 172.20.3.2: ICMP echo request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303520"/>
            <a:ext cx="3566160" cy="1005840"/>
          </a:xfrm>
          <a:prstGeom prst="roundRect">
            <a:avLst>
              <a:gd name="adj" fmla="val 9090"/>
            </a:avLst>
          </a:prstGeom>
          <a:solidFill>
            <a:srgbClr val="EDF0F5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31520" y="5440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hlim 62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85215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two routers decremented it: pe1 and p2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5303520"/>
            <a:ext cx="3566160" cy="1005840"/>
          </a:xfrm>
          <a:prstGeom prst="roundRect">
            <a:avLst>
              <a:gd name="adj" fmla="val 9090"/>
            </a:avLst>
          </a:prstGeom>
          <a:solidFill>
            <a:srgbClr val="EDF0F5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480560" y="5440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inner ttl 63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85215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only ce1 touched it — the core is invisible to the tenant's traceroute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5303520"/>
            <a:ext cx="3566160" cy="1005840"/>
          </a:xfrm>
          <a:prstGeom prst="roundRect">
            <a:avLst>
              <a:gd name="adj" fmla="val 9090"/>
            </a:avLst>
          </a:prstGeom>
          <a:solidFill>
            <a:srgbClr val="EDF0F5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229600" y="5440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isolation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585215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dc1-h1 → dc1-h2 (tenant-b, same site): 100 % loss. No route, no firewall.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Arial"/>
              </a:rPr>
              <a:t>uSID: the whole path in one address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D6977"/>
                </a:solidFill>
                <a:latin typeface="Calibri"/>
              </a:rPr>
              <a:t>Whiteboard 3 — shift-and-forward (uN with the NEXT-C-SID flavour)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E3EBF8"/>
          </a:solidFill>
          <a:ln w="12700">
            <a:solidFill>
              <a:srgbClr val="24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719072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173A78"/>
                </a:solidFill>
                <a:latin typeface="Courier New"/>
              </a:rPr>
              <a:t>fd00:c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762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D6977"/>
                </a:solidFill>
                <a:latin typeface="Calibri"/>
              </a:rPr>
              <a:t>block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64592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BE9DF"/>
          </a:solidFill>
          <a:ln w="12700">
            <a:solidFill>
              <a:srgbClr val="B748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468880" y="1719072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B7481B"/>
                </a:solidFill>
                <a:latin typeface="Courier New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762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D6977"/>
                </a:solidFill>
                <a:latin typeface="Calibri"/>
              </a:rPr>
              <a:t>p1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BE9DF"/>
          </a:solidFill>
          <a:ln w="12700">
            <a:solidFill>
              <a:srgbClr val="B748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297680" y="1719072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B7481B"/>
                </a:solidFill>
                <a:latin typeface="Courier New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762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D6977"/>
                </a:solidFill>
                <a:latin typeface="Calibri"/>
              </a:rPr>
              <a:t>p3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BE9DF"/>
          </a:solidFill>
          <a:ln w="12700">
            <a:solidFill>
              <a:srgbClr val="B748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26480" y="1719072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B7481B"/>
                </a:solidFill>
                <a:latin typeface="Courier New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1762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D6977"/>
                </a:solidFill>
                <a:latin typeface="Calibri"/>
              </a:rPr>
              <a:t>pe3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64592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E3EBF8"/>
          </a:solidFill>
          <a:ln w="12700">
            <a:solidFill>
              <a:srgbClr val="24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955279" y="1719072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173A78"/>
                </a:solidFill>
                <a:latin typeface="Courier New"/>
              </a:rPr>
              <a:t>e001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1762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D6977"/>
                </a:solidFill>
                <a:latin typeface="Calibri"/>
              </a:rPr>
              <a:t>uDT4 · tenant-b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64592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EDF0F5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784080" y="1719072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5D6977"/>
                </a:solidFill>
                <a:latin typeface="Courier New"/>
              </a:rPr>
              <a:t>::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1762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D6977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926080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5D6977"/>
                </a:solidFill>
                <a:latin typeface="Arial"/>
              </a:rPr>
              <a:t>leaves pe1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2926080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FBE9DF"/>
          </a:solidFill>
          <a:ln w="12700">
            <a:solidFill>
              <a:srgbClr val="B748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377440" y="292608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B7481B"/>
                </a:solidFill>
                <a:latin typeface="Courier New"/>
              </a:rPr>
              <a:t>fd00:c:11:13:3:e001::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92608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the carrier: p1 is first after the block, so p1 owns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5D6977"/>
                </a:solidFill>
                <a:latin typeface="Arial"/>
              </a:rPr>
              <a:t>leaves p1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3886200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FBE9DF"/>
          </a:solidFill>
          <a:ln w="12700">
            <a:solidFill>
              <a:srgbClr val="B748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377440" y="388620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B7481B"/>
                </a:solidFill>
                <a:latin typeface="Courier New"/>
              </a:rPr>
              <a:t>fd00:c:13:3:e001::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88620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p1 deleted its own ID and shifted 16 bits left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846320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5D6977"/>
                </a:solidFill>
                <a:latin typeface="Arial"/>
              </a:rPr>
              <a:t>leaves p3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77440" y="4846320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E3EBF8"/>
          </a:solidFill>
          <a:ln w="12700">
            <a:solidFill>
              <a:srgbClr val="24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377440" y="484632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173A78"/>
                </a:solidFill>
                <a:latin typeface="Courier New"/>
              </a:rPr>
              <a:t>fd00:c:3:e001::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8463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down to pe3's uDT4 — exactly what an unsteered packet carries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7"/>
                </a:solidFill>
                <a:latin typeface="Calibri"/>
              </a:rPr>
              <a:t>Captured live on p1's link to p3 and on p3's link to pe3 (act 4). The SRH still shows the original carrier; segments-left stays 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Arial"/>
              </a:rPr>
              <a:t>Steering: uSID carrier vs. an SRH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D6977"/>
                </a:solidFill>
                <a:latin typeface="Calibri"/>
              </a:rPr>
              <a:t>The same explicit path pe1 → p1 → p3 → pe3 two 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E3EB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uSID carrier (default)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73A78"/>
                </a:solidFill>
                <a:latin typeface="Courier New"/>
              </a:rPr>
              <a:t>encap seg6 segs 1</a:t>
            </a:r>
          </a:p>
          <a:p>
            <a:pPr algn="l"/>
            <a:r>
              <a:rPr sz="1500" b="0" i="0">
                <a:solidFill>
                  <a:srgbClr val="173A78"/>
                </a:solidFill>
                <a:latin typeface="Courier New"/>
              </a:rPr>
              <a:t>[ fd00:c:11:13:3:e001::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• 1 segment, a one-entry SRH (24 B), none with reduced encapsulation</a:t>
            </a:r>
          </a:p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• P routers only rewrite the destination address</a:t>
            </a:r>
          </a:p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• no per-path state anywhere in the core</a:t>
            </a:r>
          </a:p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• measured ~120 Mbit/s on a 1-vCPU software data plane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EDF0F5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Uncompressed SRH (--uncompressed)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2430"/>
                </a:solidFill>
                <a:latin typeface="Courier New"/>
              </a:rPr>
              <a:t>encap seg6 segs 3</a:t>
            </a:r>
          </a:p>
          <a:p>
            <a:pPr algn="l"/>
            <a:r>
              <a:rPr sz="1500" b="0" i="0">
                <a:solidFill>
                  <a:srgbClr val="1B2430"/>
                </a:solidFill>
                <a:latin typeface="Courier New"/>
              </a:rPr>
              <a:t>[ fd00:c:11:: fd00:c:13::</a:t>
            </a:r>
          </a:p>
          <a:p>
            <a:pPr algn="l"/>
            <a:r>
              <a:rPr sz="1500" b="0" i="0">
                <a:solidFill>
                  <a:srgbClr val="1B2430"/>
                </a:solidFill>
                <a:latin typeface="Courier New"/>
              </a:rPr>
              <a:t>  fd00:c:3:e001::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9184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• 3 × 128-bit segments: a 56-byte SRH</a:t>
            </a:r>
          </a:p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• every hop processes the SRH (segments-left)</a:t>
            </a:r>
          </a:p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• also works here — within a few percent of the carrier</a:t>
            </a:r>
          </a:p>
          <a:p>
            <a:pPr algn="l"/>
            <a:r>
              <a:rPr sz="1400" b="0" i="0">
                <a:solidFill>
                  <a:srgbClr val="1B2430"/>
                </a:solidFill>
                <a:latin typeface="Calibri"/>
              </a:rPr>
              <a:t>• what uSID was designed to avoid at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D6977"/>
                </a:solidFill>
                <a:latin typeface="Calibri"/>
              </a:rPr>
              <a:t>Steering is unidirectional: the return path takes the IGP shortest path through p2 unless steered too. tools/steer.py add | del — the portal has the same button.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Arial"/>
              </a:rPr>
              <a:t>Failover: a silent link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D6977"/>
                </a:solidFill>
                <a:latin typeface="Calibri"/>
              </a:rPr>
              <a:t>Act 5 — firewall drops IS-IS and BFD on p2's link to pe3; the interface stays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454A6"/>
                </a:solidFill>
                <a:latin typeface="Arial"/>
              </a:rPr>
              <a:t>300 ms ×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D6977"/>
                </a:solidFill>
                <a:latin typeface="Calibri"/>
              </a:rPr>
              <a:t>BFD interval and multiplier on every core adjacency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73736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454A6"/>
                </a:solidFill>
                <a:latin typeface="Arial"/>
              </a:rPr>
              <a:t>≈ 1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74320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D6977"/>
                </a:solidFill>
                <a:latin typeface="Calibri"/>
              </a:rPr>
              <a:t>detection + SPF + FIB: pe3 moves every tenant route to 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59" y="173736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B7481B"/>
                </a:solidFill>
                <a:latin typeface="Arial"/>
              </a:rPr>
              <a:t>4 / 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9" y="274320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D6977"/>
                </a:solidFill>
                <a:latin typeface="Calibri"/>
              </a:rPr>
              <a:t>packets lost at 0.2 s spacing across cut and repair (suite 08: ≤ 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39"/>
            <a:ext cx="11064240" cy="1005840"/>
          </a:xfrm>
          <a:prstGeom prst="roundRect">
            <a:avLst>
              <a:gd name="adj" fmla="val 9090"/>
            </a:avLst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38862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7A3B1"/>
                </a:solidFill>
                <a:latin typeface="Courier New"/>
              </a:rPr>
              <a:t>pe3 isisd: </a:t>
            </a:r>
            <a:r>
              <a:rPr sz="1200" b="0" i="0">
                <a:solidFill>
                  <a:srgbClr val="F0905F"/>
                </a:solidFill>
                <a:latin typeface="Courier New"/>
              </a:rPr>
              <a:t>%ADJCHANGE: Adjacency to p2 (eth1) for level-2 changed from Up to Down, bfd session went 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8348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EDF0F5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Without BFD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321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30-second IS-IS hold time: half a minute of black hole with the link light 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98348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EDF0F5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80560" y="5120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Nothing in BGP moves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5321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The VPN routes still point at the same SIDs; only the IGP path to the locator changed.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98348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EDF0F5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0" y="5120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Seen three 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5321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Grafana annotation region, the router's syslog line, the log-derived alert.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Arial"/>
              </a:rPr>
              <a:t>Operated like a network, not a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D6977"/>
                </a:solidFill>
                <a:latin typeface="Calibri"/>
              </a:rPr>
              <a:t>Act 6 — everything around the seven routers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Arial"/>
              </a:rPr>
              <a:t>Source of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4884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Nautobot models sites, devices, links, VRFs / RTs / RDs, peerings, locators. One renderer produces every config from Nautobot or from lab.conf — a test proves they agree, line for line.</a:t>
            </a:r>
          </a:p>
        </p:txBody>
      </p:sp>
      <p:sp>
        <p:nvSpPr>
          <p:cNvPr id="8" name="Oval 7"/>
          <p:cNvSpPr/>
          <p:nvPr/>
        </p:nvSpPr>
        <p:spPr>
          <a:xfrm>
            <a:off x="6172200" y="1737360"/>
            <a:ext cx="502920" cy="502920"/>
          </a:xfrm>
          <a:prstGeom prst="ellipse">
            <a:avLst/>
          </a:prstGeom>
          <a:solidFill>
            <a:srgbClr val="B74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172200" y="17373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Arial"/>
              </a:rPr>
              <a:t>Provisioning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4884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A portal adds a tenant or a site as a pipeline: allocate, model, render, boot, push, test, back up to Gitea — each step's log on the page. Removal is the same pipeline in reverse.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023359"/>
            <a:ext cx="502920" cy="502920"/>
          </a:xfrm>
          <a:prstGeom prst="ellipse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402335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931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Arial"/>
              </a:rPr>
              <a:t>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43484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64 Robot Framework cases: underlay, SIDs, VPN, isolation, reflector loss, steering, BFD failover, throughput, Nautobot, monitoring. Results with configs and routing tables are committed.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4023359"/>
            <a:ext cx="502920" cy="502920"/>
          </a:xfrm>
          <a:prstGeom prst="ellipse">
            <a:avLst/>
          </a:prstGeom>
          <a:solidFill>
            <a:srgbClr val="B74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172200" y="402335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931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30"/>
                </a:solidFill>
                <a:latin typeface="Arial"/>
              </a:rPr>
              <a:t>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43484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Pulled (node-/frr-exporter) and pushed (VyOS Telegraf) metrics into VictoriaMetrics; syslog into VictoriaLogs with log-derived alerts; sFlow from the core; Grafana with annotated events.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2430"/>
                </a:solidFill>
                <a:latin typeface="Arial"/>
              </a:rPr>
              <a:t>What you only learn by building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D6977"/>
                </a:solidFill>
                <a:latin typeface="Calibri"/>
              </a:rPr>
              <a:t>Four things not in the textbook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E3EB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Linux scopes the outer lookup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74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Encapsulated packets need a route to the remote locator inside the ingress VRF. Leak the locators per VRF, IGP-consistently, or traffic silently dies (Ip6OutNoRoutes).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EDF0F5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uSID needs a /128 anchor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5074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A connected /48 on the dummy interface outranked the uN route in zebra; the node stopped shifting. A /128 keeps the interface up and lets IS-IS own the /48.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8620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BE9DF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Silence is the hard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5074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Admin-disabling a link tells the neighbour. The failure that matters is the one only BFD sees — and this build left a stuck BFD session on a disabled interface.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8620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E3EBF8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5080" y="40233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430"/>
                </a:solidFill>
                <a:latin typeface="Arial"/>
              </a:rPr>
              <a:t>Routers do not log by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434840"/>
            <a:ext cx="5074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430"/>
                </a:solidFill>
                <a:latin typeface="Calibri"/>
              </a:rPr>
              <a:t>VyOS renders FRR at 'notifications'; %ADJCHANGE is informational. A failover left no syslog until the level was raised and log-neighbor-changes set per VRF.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Run it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A9C3F5"/>
                </a:solidFill>
                <a:latin typeface="Courier New"/>
              </a:rPr>
              <a:t>git clone https://github.com/dcantor/srv6-core</a:t>
            </a:r>
          </a:p>
          <a:p>
            <a:pPr algn="l"/>
            <a:r>
              <a:rPr sz="1800" b="0" i="0">
                <a:solidFill>
                  <a:srgbClr val="A9C3F5"/>
                </a:solidFill>
                <a:latin typeface="Courier New"/>
              </a:rPr>
              <a:t>./lab.sh up &amp;&amp; ./lab.sh bootstrap &amp;&amp; ./lab.sh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97A3B1"/>
                </a:solidFill>
                <a:latin typeface="Calibri"/>
              </a:rPr>
              <a:t>docs/srv6-walkthrough.pdf — the long-form version with every capture</a:t>
            </a:r>
          </a:p>
          <a:p>
            <a:pPr algn="l"/>
            <a:r>
              <a:rPr sz="1600" b="0" i="0">
                <a:solidFill>
                  <a:srgbClr val="97A3B1"/>
                </a:solidFill>
                <a:latin typeface="Calibri"/>
              </a:rPr>
              <a:t>docs/session/ — this session: guide, questions, exercises</a:t>
            </a:r>
          </a:p>
          <a:p>
            <a:pPr algn="l"/>
            <a:r>
              <a:rPr sz="1600" b="0" i="0">
                <a:solidFill>
                  <a:srgbClr val="97A3B1"/>
                </a:solidFill>
                <a:latin typeface="Calibri"/>
              </a:rPr>
              <a:t>tools/demo_live.py — the six acts, presenter mode</a:t>
            </a:r>
          </a:p>
          <a:p>
            <a:pPr algn="l"/>
            <a:r>
              <a:rPr sz="1600" b="0" i="0">
                <a:solidFill>
                  <a:srgbClr val="97A3B1"/>
                </a:solidFill>
                <a:latin typeface="Calibri"/>
              </a:rPr>
              <a:t>lab-portal/monitoring — the telemetry stack for every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785"/>
                </a:solidFill>
                <a:latin typeface="Calibri"/>
              </a:rPr>
              <a:t>VyOS · FRR · Nautobot · Robot Framework · Prometheus · VictoriaMetrics · VictoriaLogs · Grafana · goflow2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