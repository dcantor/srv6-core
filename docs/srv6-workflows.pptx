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9144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The SRv6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BFD3DA"/>
                </a:solidFill>
                <a:latin typeface="Calibri"/>
              </a:rPr>
              <a:t>A tenant provisioning portal, and a looking glass that remembers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300" b="0" i="0">
                <a:solidFill>
                  <a:srgbClr val="7E97A1"/>
                </a:solidFill>
                <a:latin typeface="Calibri"/>
              </a:rPr>
              <a:t>VyOS SRv6 core (uSID f3216) · IS-IS level-2 · BGP L3VPN with End.DT46 · two route reflectors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7E97A1"/>
                </a:solidFill>
                <a:latin typeface="Calibri"/>
              </a:rPr>
              <a:t>Nautobot source of truth · Network-as-Code rendering · Robot Framework validation · Prometheus and Grafana</a:t>
            </a:r>
          </a:p>
        </p:txBody>
      </p:sp>
      <p:sp>
        <p:nvSpPr>
          <p:cNvPr id="6" name="Oval 5"/>
          <p:cNvSpPr/>
          <p:nvPr/>
        </p:nvSpPr>
        <p:spPr>
          <a:xfrm>
            <a:off x="10241280" y="1965960"/>
            <a:ext cx="1143000" cy="11430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304288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Cambria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32186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FD3DA"/>
                </a:solidFill>
                <a:latin typeface="Calibri"/>
              </a:rPr>
              <a:t>VMs, one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7161C"/>
                </a:solidFill>
                <a:latin typeface="Cambria"/>
              </a:rPr>
              <a:t>What the core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Every number below is read from the routers or from the collector's own history — none of it is typed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E7490"/>
                </a:solidFill>
                <a:latin typeface="Cambria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7161C"/>
                </a:solidFill>
                <a:latin typeface="Calibri"/>
              </a:rPr>
              <a:t>tenants,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one VRF per tenant on every PE and CE; tenants never meet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E7490"/>
                </a:solidFill>
                <a:latin typeface="Cambria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7161C"/>
                </a:solidFill>
                <a:latin typeface="Calibri"/>
              </a:rPr>
              <a:t>prefixes in the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152 paths in the VPNv4 / VPNv6 table, across two address families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E7490"/>
                </a:solidFill>
                <a:latin typeface="Cambria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7161C"/>
                </a:solidFill>
                <a:latin typeface="Calibri"/>
              </a:rPr>
              <a:t>tests per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twelve Robot Framework suites against the running 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74519"/>
            <a:ext cx="2606040" cy="1874519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205740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E7490"/>
                </a:solidFill>
                <a:latin typeface="Cambria"/>
              </a:rPr>
              <a:t>~6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7161C"/>
                </a:solidFill>
                <a:latin typeface="Calibri"/>
              </a:rPr>
              <a:t>to add a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03580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four sites, four host VMs, the CEs re-wired, Nautobot seeded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10817352" cy="2057400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Two halves of the same model.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The portal changes the service: a tenant is described on a form, allocated from the live lab, and built by one run that ends in the test suites. The looking glass never changes anything — it sits in the core as a passive BGP listener, reads every router besides, and keeps what it saw, so any prefix can be answered for now and for any moment in the last thirty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7161C"/>
                </a:solidFill>
                <a:latin typeface="Cambria"/>
              </a:rPr>
              <a:t>The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An IS-IS level-2, IPv6-only core carrying SRv6 uSID f3216; four data centres behind four PEs; p1 and p3 reflect, and the collector (top right) listens to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5149" y="1682495"/>
            <a:ext cx="9518653" cy="3904488"/>
          </a:xfrm>
          <a:prstGeom prst="roundRect">
            <a:avLst>
              <a:gd name="adj" fmla="val 76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portal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13" y="1737360"/>
            <a:ext cx="9408925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0013" y="5660136"/>
            <a:ext cx="940892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The portal's own drawing, from the model: every link with its prefix and interfaces, every VRF with its route distinguisher, hosts coloured by live reachability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99048"/>
            <a:ext cx="10817352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The picture, the routers' configuration, the Nautobot objects and the test fixtures all come from one file — lab.conf plus the intent. Nothing on this slide is drawn by hand, and Nautobot must render the same thing or the build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E7490"/>
                </a:solidFill>
                <a:latin typeface="Calibri"/>
              </a:rP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Provisioning a 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The portal is the only place the service is changed: a form states the intent, the allocator answers from the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running lab, and a single run builds it — VMs, wiring, configuration, Nautobot and the tests.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http://192.168.50.231:8091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Tenants, with the live state beside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One card per tenant: its sites, the attachment circuits, the CEs, the hosts — joined with what the PEs actually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95538" cy="4407408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portal-te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8581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35624"/>
            <a:ext cx="67858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Each row carries the eBGP session to the CE, the prefixes received, the VRF route count and the tenant's End.DT4 SID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3090" y="1691640"/>
            <a:ext cx="3622804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9122" y="1920240"/>
            <a:ext cx="31107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Model and reality, in one row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left of each row is the model (PE port, RD, attachment circuit, LAN, host); the right is read live from the PE.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session that is not Established, or a host that does not answer, shows here first — there is no separate health page to remember.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VRF, tenant and prefixes link straight into Nautobot, so the source of truth is one click from the operational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7161C"/>
                </a:solidFill>
                <a:latin typeface="Cambria"/>
              </a:rPr>
              <a:t>Add a tenant — who it is, and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wizard opens with everything it can work out already filled in: the next free name, kernel table and route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772822"/>
            <a:ext cx="5458968" cy="2784348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portal-wizar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7686"/>
            <a:ext cx="5349240" cy="2674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674928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Step 1 — identity and the sites the tenant will have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728216"/>
            <a:ext cx="5230368" cy="2873560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ck-portal-wizard-ref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5120640" cy="2763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6749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The allocator answers from the running lab, so it can say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3840"/>
            <a:ext cx="10789920" cy="1469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Left: tenant-c, kernel table 300, route target 65000:300 — the next free values, and a site in each of the four data centres.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Right: pe4 has no free ports left, so a fourth site is refused before anything is built rather than half-way through the run. Drop that site and the wizard goes on — the allocation is checked against the lab, not against a copy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Add a tenant — the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Attachment circuit /30s and LAN /24s from the tenant's blocks, the next free PE and CE ports, and a host per 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3952572" cy="4681728"/>
          </a:xfrm>
          <a:prstGeom prst="roundRect">
            <a:avLst>
              <a:gd name="adj" fmla="val 1562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-portal-wizard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842844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409944"/>
            <a:ext cx="38428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Step 2 — every value suggested and editable; the review re-validates whatever you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0124" y="1691640"/>
            <a:ext cx="6565770" cy="4572000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6156" y="1920240"/>
            <a:ext cx="6053706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Allocation, not arithmetic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Addresses come from the tenant's own blocks — 172.(16+i) for the attachment circuits, 172.(20+i) for the LANs — so a new tenant never collides with an old one.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host is part of the tenant: name, OOB address, console port and node index are allocated with everything else, and the VM is built by the run.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Edit anything. The next step re-checks free ports, unused prefixes and unique names against the lab as it is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457200"/>
            <a:ext cx="566928" cy="566928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38912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Add a tenant — review, then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51560"/>
            <a:ext cx="100885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last step is the whole change in one table: what each PE gets, what each CE gets, and the host behind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36776"/>
            <a:ext cx="5038975" cy="4590288"/>
          </a:xfrm>
          <a:prstGeom prst="roundRect">
            <a:avLst>
              <a:gd name="adj" fmla="val 1451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ck-portal-wizard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92924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318504"/>
            <a:ext cx="49292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Step 3 — per-site review, with the option to run the Robot suites at the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6527" y="1691640"/>
            <a:ext cx="5479367" cy="4480560"/>
          </a:xfrm>
          <a:prstGeom prst="roundRect">
            <a:avLst>
              <a:gd name="adj" fmla="val 2002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2559" y="1920240"/>
            <a:ext cx="4967303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One button, one run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lab.conf and the day-0 configs are written, the host VMs are created and booted, and the CEs at the chosen sites are re-wired.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Then the configuration is pushed to the PEs and CEs over SSH, Nautobot is seeded, and the run verifies itself: a ping matrix of the tenant's hosts and a Nautobot-versus-lab.conf render check.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re-wired CE reboots for about a minute, and the review says so — that site's other tenants lose connectivity for that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Watch it run — and resume it if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Every run is a list of steps with a streamed log and, at the end, the Robot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751159" cy="4315968"/>
          </a:xfrm>
          <a:prstGeom prst="roundRect">
            <a:avLst>
              <a:gd name="adj" fmla="val 108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portal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64143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44183"/>
            <a:ext cx="6641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 real tenant-c run: eight steps, 52/52 tests — and every step marked “from run …-f4cf” was inherited, not repeated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8711" y="1691640"/>
            <a:ext cx="3767183" cy="420624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4743" y="1920240"/>
            <a:ext cx="325511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The record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One run at a time, so two changes can never race on the same router.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failed or interrupted run resumes from the failed step: the successful steps carry their earlier result forward, which is what the “from run …” notes are.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suites run inside the job, so the evidence belongs to the change rather than to a separate test 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7161C"/>
                </a:solidFill>
                <a:latin typeface="Cambria"/>
              </a:rPr>
              <a:t>Steering: pin a prefix to 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Explicit-path traffic engineering as a form — a source PE, a tenant prefix, and the P routers to cross, in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82495"/>
            <a:ext cx="10927080" cy="2044599"/>
          </a:xfrm>
          <a:prstGeom prst="roundRect">
            <a:avLst>
              <a:gd name="adj" fmla="val 669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portal-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0817352" cy="1934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00247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The segment list is the End SID of each listed P router, then the End.DT4 SID of the PE that owns the prefix — read live and applied immediately. No policy is in place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39159"/>
            <a:ext cx="3361943" cy="21159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95191"/>
            <a:ext cx="2849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7161C"/>
                </a:solidFill>
                <a:latin typeface="Calibri"/>
              </a:rPr>
              <a:t>Cheap, because SRv6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952391"/>
            <a:ext cx="2849879" cy="114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No per-hop state and no signalling: the ingress PE writes a segment list into the packet and every router in between only has to forward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3504" y="4239159"/>
            <a:ext cx="3361943" cy="21159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9536" y="4495191"/>
            <a:ext cx="2849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7161C"/>
                </a:solidFill>
                <a:latin typeface="Calibri"/>
              </a:rPr>
              <a:t>One direction at a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9536" y="4952391"/>
            <a:ext cx="2849879" cy="114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Return traffic keeps the IGP shortest path, so a policy is one-directional unless you add its mirror. Suite 07 shows the SRH on the wire.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7" y="4239159"/>
            <a:ext cx="3361943" cy="21159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7239" y="4495191"/>
            <a:ext cx="2849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7161C"/>
                </a:solidFill>
                <a:latin typeface="Calibri"/>
              </a:rPr>
              <a:t>And it is visible afterwards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239" y="4952391"/>
            <a:ext cx="2849879" cy="114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looking glass draws a steered prefix along the routers its policy named, and keeps drawing it that way for the window in which it was in force.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0E7490"/>
                </a:solidFill>
                <a:latin typeface="Calibri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mbria"/>
              </a:rPr>
              <a:t>The looking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A twenty-first VM, Alpine and 512 MiB, sits in the core as a passive route collector: an iBGP session to each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reflector, a direct read of every router besides, and a history of everything it has seen.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BFD3DA"/>
                </a:solidFill>
                <a:latin typeface="Calibri"/>
              </a:rPr>
              <a:t>http://192.168.50.231:8092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Every VPN prefix in the core, and how it got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overview: what the collector holds, the sessions it holds it over, and the testbed drawn from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895538" cy="4407408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78581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35624"/>
            <a:ext cx="67858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76 prefixes, 152 paths, two reflector sessions — and 18,674 recorded changes behind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3090" y="1691640"/>
            <a:ext cx="3622804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9122" y="1920240"/>
            <a:ext cx="31107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Why a session, not screen-scraping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collector receives the same update the reflector sent: route distinguisher, route targets, SRv6 SID and label, originator-id, cluster list, AS path, local preference.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It announces nothing back — an outbound deny route-map says so explicitly, and the sessions show 0 sent.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session negotiates extended next-hop capability, without which every VPNv4 route would look as though it came from the reflector instead of the PE that originated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Every row says how it was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core's VPN table is one answer. What a tenant actually has, and what a router will really do, are two others.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606780" cy="4224528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49705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52744"/>
            <a:ext cx="64970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What each view holds, per router, VRF and family — with the transport it came over and when it was collected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4332" y="1691640"/>
            <a:ext cx="3911562" cy="41148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50364" y="1920240"/>
            <a:ext cx="339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Three transports, one page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rr-session — the whole VPNv4 / VPNv6 table, as the reflectors handed it over.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router-api — each router's own HTTPS API: its RIB per VRF and family, its own VPN table, its IS-IS adjacencies.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router-ssh — the per-VRF BGP tables, where the API has no JSON form for the question.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same prefix seen two ways is two answers, so the transport is a column, a filter and a pill — never hidden.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Prefixes, filtered the way an operator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View, family, VRF, route distinguisher, origin AS, how it was read — and free text over prefix, next hop, SID, route target and AS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606780" cy="4224528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pre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49705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52744"/>
            <a:ext cx="64970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Every row carries its attributes and a path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4332" y="1691640"/>
            <a:ext cx="3911562" cy="41148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50364" y="1920240"/>
            <a:ext cx="339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The classic questions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“Who originates this?” — origin AS and originating node are columns, not something to derive from an AS path.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“Is it in the tenant's VRF, or only in the core?” — the view filter answers it directly.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“What SID does it carry?” — the End.DT46 SID is on the row, and the free-text box searches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The path, router by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For one prefix from a chosen vantage point: the map with the path lit up, then a card per hop.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751159" cy="4315968"/>
          </a:xfrm>
          <a:prstGeom prst="roundRect">
            <a:avLst>
              <a:gd name="adj" fmla="val 108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64143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44183"/>
            <a:ext cx="6641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dc1-h1 → 172.20.3.0/24: the CE hand-off, pe1's import and SRv6 encapsulation, p2, pe3's End.DT46 decapsulation, ce3, the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8711" y="1691640"/>
            <a:ext cx="3767183" cy="420624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4743" y="1920240"/>
            <a:ext cx="325511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Two sources, one answer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route and its attributes come from the session; what the router will actually do with the packet comes from its own RIB — and the card says which is which.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Equal-cost paths are named rather than silently collapsed into one line.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steered prefix is drawn along the segment list the policy installed: the uSID carrier is unpacked back into the routers it names.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One prefix, every view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core's VPN table, each reflector's and PE's own VPN table, each PE's and CE's VRF table, and every router's RIB.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606780" cy="4224528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prefix-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49705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52744"/>
            <a:ext cx="64970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One question, answered by every vantage point that has an opinion — each with its full attribute set and the transport it came 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4332" y="1691640"/>
            <a:ext cx="3911562" cy="41148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50364" y="1920240"/>
            <a:ext cx="339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Where answers differ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prefix present in the core but missing from a VRF is an import problem; present in the VRF but not in the RIB is a selection problem. The page puts both side by side.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Attributes are shown whole: route targets, originator-id, cluster list, SID, label, selection reason.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Below it, the timeline of everything that has happened to this prefix.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07161C"/>
                </a:solidFill>
                <a:latin typeface="Cambria"/>
              </a:rPr>
              <a:t>And what it looked like an hour 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Every collection is reconciled against what is stored, so the history is a log of announces, attribute changes and withdraws.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636776"/>
            <a:ext cx="6751159" cy="4315968"/>
          </a:xfrm>
          <a:prstGeom prst="roundRect">
            <a:avLst>
              <a:gd name="adj" fmla="val 1083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timetr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664143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44183"/>
            <a:ext cx="66414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The slider dragged back: 33 paths in 12 views as they stood at 13:57 — and the path diagram re-drawn for that moment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8711" y="1691640"/>
            <a:ext cx="3767183" cy="420624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4743" y="1920240"/>
            <a:ext cx="325511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7161C"/>
                </a:solidFill>
                <a:latin typeface="Calibri"/>
              </a:rPr>
              <a:t>The point of keeping it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change carries the fields that changed — local_pref: 100 → 200 — not just a new snapshot.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Drag the slider and every table on the page re-renders, and so does the path: the forwarding state comes out of the RIB history, not out of today's routers.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So a policy that was in place at 22:06 and is gone now still shows as the path it made. Thirty days are kept, pruned hourly.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0" i="0">
                <a:solidFill>
                  <a:srgbClr val="07161C"/>
                </a:solidFill>
                <a:latin typeface="Cambria"/>
              </a:rPr>
              <a:t>Everything it reads, and one question of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The Routers page is the collector's account of its own work; the Live query is the looking-glass button.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1728216"/>
            <a:ext cx="5162991" cy="3310128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lg-rou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053263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11496"/>
            <a:ext cx="50532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Every box it reads: identity, transports, when, and how much it 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2180503"/>
            <a:ext cx="5230368" cy="2405552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ck-lg-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35367"/>
            <a:ext cx="5120640" cy="2295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11149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 show command straight on a router — only show, ping and traceroute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50408"/>
            <a:ext cx="10789920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Each router's own HTTPS API is rendered into its configuration like everything else (key srv6core-lab-looking-glass, reachable only from the collector and the lab host), so the same interface is open to anything else that wants it.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Numeric series — paths per VRF and family, churn, session state, collection health — go to /metrics, where Prometheus scrapes them for the dashboard's looking-glass row and three alerts.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Cambria"/>
              </a:rPr>
              <a:t>What the two halves are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0303A"/>
          </a:solidFill>
          <a:ln w="12700">
            <a:solidFill>
              <a:srgbClr val="10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Change it from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FD3DA"/>
                </a:solidFill>
                <a:latin typeface="Calibri"/>
              </a:rPr>
              <a:t>The portal allocates from the running lab, builds the tenant in one resumable run, and ends in the test suites — so the evidence belongs to the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0303A"/>
          </a:solidFill>
          <a:ln w="12700">
            <a:solidFill>
              <a:srgbClr val="10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See it as the network sees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83464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FD3DA"/>
                </a:solidFill>
                <a:latin typeface="Calibri"/>
              </a:rPr>
              <a:t>A passive BGP session gets the attributes the PEs originated; the routers' own APIs get what each box installed. Every row says which.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965960"/>
            <a:ext cx="3401568" cy="2514600"/>
          </a:xfrm>
          <a:prstGeom prst="roundRect">
            <a:avLst>
              <a:gd name="adj" fmla="val 3225"/>
            </a:avLst>
          </a:prstGeom>
          <a:solidFill>
            <a:srgbClr val="10303A"/>
          </a:solidFill>
          <a:ln w="12700">
            <a:solidFill>
              <a:srgbClr val="10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212848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Ask about yesterday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2834640"/>
            <a:ext cx="28529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BFD3DA"/>
                </a:solidFill>
                <a:latin typeface="Calibri"/>
              </a:rPr>
              <a:t>The history is reconciled, not sampled: announces, attribute changes and withdraws, thirty days of them, with the path re-drawn for any moment in that window.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7E97A1"/>
                </a:solidFill>
                <a:latin typeface="Calibri"/>
              </a:rPr>
              <a:t>The portal is at http://192.168.50.231:8091 and the looking glass at :8092, both with their REST API at /docs; the lab hub at :8088 lists every lab on the host. The full write-up is README.md and docs/srv6-walkthrough.pdf.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