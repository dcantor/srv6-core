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9326880" cy="1737360"/>
          </a:xfrm>
          <a:prstGeom prst="rect">
            <a:avLst/>
          </a:prstGeom>
          <a:noFill/>
        </p:spPr>
        <p:txBody>
          <a:bodyPr wrap="square" lIns="0" rIns="0" tIns="0" bIns="0" anchor="t">
            <a:spAutoFit/>
          </a:bodyPr>
          <a:lstStyle/>
          <a:p>
            <a:pPr algn="l">
              <a:lnSpc>
                <a:spcPct val="100000"/>
              </a:lnSpc>
              <a:spcAft>
                <a:spcPts val="200"/>
              </a:spcAft>
            </a:pPr>
            <a:r>
              <a:rPr sz="4000" b="0" i="0">
                <a:solidFill>
                  <a:srgbClr val="FFFFFF"/>
                </a:solidFill>
                <a:latin typeface="Cambria"/>
              </a:rPr>
              <a:t>The BGP Looking Glass</a:t>
            </a:r>
          </a:p>
        </p:txBody>
      </p:sp>
      <p:sp>
        <p:nvSpPr>
          <p:cNvPr id="4" name="TextBox 3"/>
          <p:cNvSpPr txBox="1"/>
          <p:nvPr/>
        </p:nvSpPr>
        <p:spPr>
          <a:xfrm>
            <a:off x="822960" y="2834640"/>
            <a:ext cx="8686800" cy="914400"/>
          </a:xfrm>
          <a:prstGeom prst="rect">
            <a:avLst/>
          </a:prstGeom>
          <a:noFill/>
        </p:spPr>
        <p:txBody>
          <a:bodyPr wrap="square" lIns="0" rIns="0" tIns="0" bIns="0" anchor="t">
            <a:spAutoFit/>
          </a:bodyPr>
          <a:lstStyle/>
          <a:p>
            <a:pPr algn="l">
              <a:lnSpc>
                <a:spcPct val="115000"/>
              </a:lnSpc>
              <a:spcAft>
                <a:spcPts val="0"/>
              </a:spcAft>
            </a:pPr>
            <a:r>
              <a:rPr sz="2100" b="0" i="0">
                <a:solidFill>
                  <a:srgbClr val="BFD3DA"/>
                </a:solidFill>
                <a:latin typeface="Calibri"/>
              </a:rPr>
              <a:t>A passive route collector in the SRv6 core — every VPN prefix, its attributes, and how they changed</a:t>
            </a:r>
          </a:p>
        </p:txBody>
      </p:sp>
      <p:sp>
        <p:nvSpPr>
          <p:cNvPr id="5" name="TextBox 4"/>
          <p:cNvSpPr txBox="1"/>
          <p:nvPr/>
        </p:nvSpPr>
        <p:spPr>
          <a:xfrm>
            <a:off x="822960" y="4251960"/>
            <a:ext cx="10515600" cy="1097280"/>
          </a:xfrm>
          <a:prstGeom prst="rect">
            <a:avLst/>
          </a:prstGeom>
          <a:noFill/>
        </p:spPr>
        <p:txBody>
          <a:bodyPr wrap="square" lIns="0" rIns="0" tIns="0" bIns="0" anchor="t">
            <a:spAutoFit/>
          </a:bodyPr>
          <a:lstStyle/>
          <a:p>
            <a:pPr algn="l">
              <a:lnSpc>
                <a:spcPct val="140000"/>
              </a:lnSpc>
              <a:spcAft>
                <a:spcPts val="500"/>
              </a:spcAft>
            </a:pPr>
            <a:r>
              <a:rPr sz="1300" b="0" i="0">
                <a:solidFill>
                  <a:srgbClr val="7E97A1"/>
                </a:solidFill>
                <a:latin typeface="Calibri"/>
              </a:rPr>
              <a:t>Alpine + FRR on 512 MiB · iBGP to both route reflectors · a direct read of all twelve routers</a:t>
            </a:r>
          </a:p>
          <a:p>
            <a:pPr algn="l">
              <a:lnSpc>
                <a:spcPct val="140000"/>
              </a:lnSpc>
              <a:spcAft>
                <a:spcPts val="0"/>
              </a:spcAft>
            </a:pPr>
            <a:r>
              <a:rPr sz="1300" b="0" i="0">
                <a:solidFill>
                  <a:srgbClr val="7E97A1"/>
                </a:solidFill>
                <a:latin typeface="Calibri"/>
              </a:rPr>
              <a:t>SQLite history · Flask API and page · Prometheus metrics · http://192.168.50.231:8092</a:t>
            </a:r>
          </a:p>
        </p:txBody>
      </p:sp>
      <p:sp>
        <p:nvSpPr>
          <p:cNvPr id="6" name="Oval 5"/>
          <p:cNvSpPr/>
          <p:nvPr/>
        </p:nvSpPr>
        <p:spPr>
          <a:xfrm>
            <a:off x="10332720" y="2011680"/>
            <a:ext cx="1143000" cy="114300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0" y="2350008"/>
            <a:ext cx="1143000" cy="548640"/>
          </a:xfrm>
          <a:prstGeom prst="rect">
            <a:avLst/>
          </a:prstGeom>
          <a:noFill/>
        </p:spPr>
        <p:txBody>
          <a:bodyPr wrap="square" lIns="0" rIns="0" tIns="0" bIns="0" anchor="t">
            <a:spAutoFit/>
          </a:bodyPr>
          <a:lstStyle/>
          <a:p>
            <a:pPr algn="ctr">
              <a:lnSpc>
                <a:spcPct val="115000"/>
              </a:lnSpc>
              <a:spcAft>
                <a:spcPts val="0"/>
              </a:spcAft>
            </a:pPr>
            <a:r>
              <a:rPr sz="2500" b="0" i="0">
                <a:solidFill>
                  <a:srgbClr val="FFFFFF"/>
                </a:solidFill>
                <a:latin typeface="Cambria"/>
              </a:rPr>
              <a:t>30 d</a:t>
            </a:r>
          </a:p>
        </p:txBody>
      </p:sp>
      <p:sp>
        <p:nvSpPr>
          <p:cNvPr id="8" name="TextBox 7"/>
          <p:cNvSpPr txBox="1"/>
          <p:nvPr/>
        </p:nvSpPr>
        <p:spPr>
          <a:xfrm>
            <a:off x="9646920" y="3264408"/>
            <a:ext cx="2011680" cy="457200"/>
          </a:xfrm>
          <a:prstGeom prst="rect">
            <a:avLst/>
          </a:prstGeom>
          <a:noFill/>
        </p:spPr>
        <p:txBody>
          <a:bodyPr wrap="square" lIns="0" rIns="0" tIns="0" bIns="0" anchor="t">
            <a:spAutoFit/>
          </a:bodyPr>
          <a:lstStyle/>
          <a:p>
            <a:pPr algn="ctr">
              <a:lnSpc>
                <a:spcPct val="115000"/>
              </a:lnSpc>
              <a:spcAft>
                <a:spcPts val="0"/>
              </a:spcAft>
            </a:pPr>
            <a:r>
              <a:rPr sz="1200" b="0" i="0">
                <a:solidFill>
                  <a:srgbClr val="BFD3DA"/>
                </a:solidFill>
                <a:latin typeface="Calibri"/>
              </a:rPr>
              <a:t>of every change, kept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20095" cy="731520"/>
          </a:xfrm>
          <a:prstGeom prst="rect">
            <a:avLst/>
          </a:prstGeom>
          <a:noFill/>
        </p:spPr>
        <p:txBody>
          <a:bodyPr wrap="square" lIns="0" rIns="0" tIns="0" bIns="0" anchor="t">
            <a:spAutoFit/>
          </a:bodyPr>
          <a:lstStyle/>
          <a:p>
            <a:pPr algn="l">
              <a:lnSpc>
                <a:spcPct val="115000"/>
              </a:lnSpc>
              <a:spcAft>
                <a:spcPts val="0"/>
              </a:spcAft>
            </a:pPr>
            <a:r>
              <a:rPr sz="3200" b="0" i="0">
                <a:solidFill>
                  <a:srgbClr val="07161C"/>
                </a:solidFill>
                <a:latin typeface="Cambria"/>
              </a:rPr>
              <a:t>What it holds</a:t>
            </a:r>
          </a:p>
        </p:txBody>
      </p:sp>
      <p:sp>
        <p:nvSpPr>
          <p:cNvPr id="4" name="TextBox 3"/>
          <p:cNvSpPr txBox="1"/>
          <p:nvPr/>
        </p:nvSpPr>
        <p:spPr>
          <a:xfrm>
            <a:off x="685800" y="1170432"/>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Read from the collector itself while these slides were made — nothing on this page is typed in.</a:t>
            </a:r>
          </a:p>
        </p:txBody>
      </p:sp>
      <p:sp>
        <p:nvSpPr>
          <p:cNvPr id="5" name="Rounded Rectangle 4"/>
          <p:cNvSpPr/>
          <p:nvPr/>
        </p:nvSpPr>
        <p:spPr>
          <a:xfrm>
            <a:off x="685800" y="1874519"/>
            <a:ext cx="2606040" cy="1874519"/>
          </a:xfrm>
          <a:prstGeom prst="roundRect">
            <a:avLst>
              <a:gd name="adj" fmla="val 4210"/>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2194560" cy="685800"/>
          </a:xfrm>
          <a:prstGeom prst="rect">
            <a:avLst/>
          </a:prstGeom>
          <a:noFill/>
        </p:spPr>
        <p:txBody>
          <a:bodyPr wrap="square" lIns="0" rIns="0" tIns="0" bIns="0" anchor="t">
            <a:spAutoFit/>
          </a:bodyPr>
          <a:lstStyle/>
          <a:p>
            <a:pPr algn="l">
              <a:lnSpc>
                <a:spcPct val="115000"/>
              </a:lnSpc>
              <a:spcAft>
                <a:spcPts val="0"/>
              </a:spcAft>
            </a:pPr>
            <a:r>
              <a:rPr sz="2600" b="0" i="0">
                <a:solidFill>
                  <a:srgbClr val="0E7490"/>
                </a:solidFill>
                <a:latin typeface="Cambria"/>
              </a:rPr>
              <a:t>76 / 152</a:t>
            </a:r>
          </a:p>
        </p:txBody>
      </p:sp>
      <p:sp>
        <p:nvSpPr>
          <p:cNvPr id="7" name="TextBox 6"/>
          <p:cNvSpPr txBox="1"/>
          <p:nvPr/>
        </p:nvSpPr>
        <p:spPr>
          <a:xfrm>
            <a:off x="914400" y="2697480"/>
            <a:ext cx="2194560" cy="365760"/>
          </a:xfrm>
          <a:prstGeom prst="rect">
            <a:avLst/>
          </a:prstGeom>
          <a:noFill/>
        </p:spPr>
        <p:txBody>
          <a:bodyPr wrap="square" lIns="0" rIns="0" tIns="0" bIns="0" anchor="t">
            <a:spAutoFit/>
          </a:bodyPr>
          <a:lstStyle/>
          <a:p>
            <a:pPr algn="l">
              <a:lnSpc>
                <a:spcPct val="115000"/>
              </a:lnSpc>
              <a:spcAft>
                <a:spcPts val="0"/>
              </a:spcAft>
            </a:pPr>
            <a:r>
              <a:rPr sz="1300" b="0" i="0">
                <a:solidFill>
                  <a:srgbClr val="07161C"/>
                </a:solidFill>
                <a:latin typeface="Calibri"/>
              </a:rPr>
              <a:t>prefixes, paths</a:t>
            </a:r>
          </a:p>
        </p:txBody>
      </p:sp>
      <p:sp>
        <p:nvSpPr>
          <p:cNvPr id="8" name="TextBox 7"/>
          <p:cNvSpPr txBox="1"/>
          <p:nvPr/>
        </p:nvSpPr>
        <p:spPr>
          <a:xfrm>
            <a:off x="914400" y="3035808"/>
            <a:ext cx="2194560" cy="731520"/>
          </a:xfrm>
          <a:prstGeom prst="rect">
            <a:avLst/>
          </a:prstGeom>
          <a:noFill/>
        </p:spPr>
        <p:txBody>
          <a:bodyPr wrap="square" lIns="0" rIns="0" tIns="0" bIns="0" anchor="t">
            <a:spAutoFit/>
          </a:bodyPr>
          <a:lstStyle/>
          <a:p>
            <a:pPr algn="l">
              <a:lnSpc>
                <a:spcPct val="115000"/>
              </a:lnSpc>
              <a:spcAft>
                <a:spcPts val="0"/>
              </a:spcAft>
            </a:pPr>
            <a:r>
              <a:rPr sz="1050" b="0" i="0">
                <a:solidFill>
                  <a:srgbClr val="64748B"/>
                </a:solidFill>
                <a:latin typeface="Calibri"/>
              </a:rPr>
              <a:t>the core's VPNv4 + VPNv6 table, not one router's view</a:t>
            </a:r>
          </a:p>
        </p:txBody>
      </p:sp>
      <p:sp>
        <p:nvSpPr>
          <p:cNvPr id="9" name="Rounded Rectangle 8"/>
          <p:cNvSpPr/>
          <p:nvPr/>
        </p:nvSpPr>
        <p:spPr>
          <a:xfrm>
            <a:off x="3474720" y="1874519"/>
            <a:ext cx="2606040" cy="1874519"/>
          </a:xfrm>
          <a:prstGeom prst="roundRect">
            <a:avLst>
              <a:gd name="adj" fmla="val 4210"/>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057400"/>
            <a:ext cx="2194560" cy="685800"/>
          </a:xfrm>
          <a:prstGeom prst="rect">
            <a:avLst/>
          </a:prstGeom>
          <a:noFill/>
        </p:spPr>
        <p:txBody>
          <a:bodyPr wrap="square" lIns="0" rIns="0" tIns="0" bIns="0" anchor="t">
            <a:spAutoFit/>
          </a:bodyPr>
          <a:lstStyle/>
          <a:p>
            <a:pPr algn="l">
              <a:lnSpc>
                <a:spcPct val="115000"/>
              </a:lnSpc>
              <a:spcAft>
                <a:spcPts val="0"/>
              </a:spcAft>
            </a:pPr>
            <a:r>
              <a:rPr sz="2600" b="0" i="0">
                <a:solidFill>
                  <a:srgbClr val="0E7490"/>
                </a:solidFill>
                <a:latin typeface="Cambria"/>
              </a:rPr>
              <a:t>2 / 2</a:t>
            </a:r>
          </a:p>
        </p:txBody>
      </p:sp>
      <p:sp>
        <p:nvSpPr>
          <p:cNvPr id="11" name="TextBox 10"/>
          <p:cNvSpPr txBox="1"/>
          <p:nvPr/>
        </p:nvSpPr>
        <p:spPr>
          <a:xfrm>
            <a:off x="3703320" y="2697480"/>
            <a:ext cx="2194560" cy="365760"/>
          </a:xfrm>
          <a:prstGeom prst="rect">
            <a:avLst/>
          </a:prstGeom>
          <a:noFill/>
        </p:spPr>
        <p:txBody>
          <a:bodyPr wrap="square" lIns="0" rIns="0" tIns="0" bIns="0" anchor="t">
            <a:spAutoFit/>
          </a:bodyPr>
          <a:lstStyle/>
          <a:p>
            <a:pPr algn="l">
              <a:lnSpc>
                <a:spcPct val="115000"/>
              </a:lnSpc>
              <a:spcAft>
                <a:spcPts val="0"/>
              </a:spcAft>
            </a:pPr>
            <a:r>
              <a:rPr sz="1300" b="0" i="0">
                <a:solidFill>
                  <a:srgbClr val="07161C"/>
                </a:solidFill>
                <a:latin typeface="Calibri"/>
              </a:rPr>
              <a:t>reflector sessions</a:t>
            </a:r>
          </a:p>
        </p:txBody>
      </p:sp>
      <p:sp>
        <p:nvSpPr>
          <p:cNvPr id="12" name="TextBox 11"/>
          <p:cNvSpPr txBox="1"/>
          <p:nvPr/>
        </p:nvSpPr>
        <p:spPr>
          <a:xfrm>
            <a:off x="3703320" y="3035808"/>
            <a:ext cx="2194560" cy="731520"/>
          </a:xfrm>
          <a:prstGeom prst="rect">
            <a:avLst/>
          </a:prstGeom>
          <a:noFill/>
        </p:spPr>
        <p:txBody>
          <a:bodyPr wrap="square" lIns="0" rIns="0" tIns="0" bIns="0" anchor="t">
            <a:spAutoFit/>
          </a:bodyPr>
          <a:lstStyle/>
          <a:p>
            <a:pPr algn="l">
              <a:lnSpc>
                <a:spcPct val="115000"/>
              </a:lnSpc>
              <a:spcAft>
                <a:spcPts val="0"/>
              </a:spcAft>
            </a:pPr>
            <a:r>
              <a:rPr sz="1050" b="0" i="0">
                <a:solidFill>
                  <a:srgbClr val="64748B"/>
                </a:solidFill>
                <a:latin typeface="Calibri"/>
              </a:rPr>
              <a:t>one link to p1, one to p3 — 60 VPNv4 and 16 VPNv6 accepted on each, 0 sent</a:t>
            </a:r>
          </a:p>
        </p:txBody>
      </p:sp>
      <p:sp>
        <p:nvSpPr>
          <p:cNvPr id="13" name="Rounded Rectangle 12"/>
          <p:cNvSpPr/>
          <p:nvPr/>
        </p:nvSpPr>
        <p:spPr>
          <a:xfrm>
            <a:off x="6263640" y="1874519"/>
            <a:ext cx="2606040" cy="1874519"/>
          </a:xfrm>
          <a:prstGeom prst="roundRect">
            <a:avLst>
              <a:gd name="adj" fmla="val 4210"/>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057400"/>
            <a:ext cx="2194560" cy="685800"/>
          </a:xfrm>
          <a:prstGeom prst="rect">
            <a:avLst/>
          </a:prstGeom>
          <a:noFill/>
        </p:spPr>
        <p:txBody>
          <a:bodyPr wrap="square" lIns="0" rIns="0" tIns="0" bIns="0" anchor="t">
            <a:spAutoFit/>
          </a:bodyPr>
          <a:lstStyle/>
          <a:p>
            <a:pPr algn="l">
              <a:lnSpc>
                <a:spcPct val="115000"/>
              </a:lnSpc>
              <a:spcAft>
                <a:spcPts val="0"/>
              </a:spcAft>
            </a:pPr>
            <a:r>
              <a:rPr sz="2600" b="0" i="0">
                <a:solidFill>
                  <a:srgbClr val="0E7490"/>
                </a:solidFill>
                <a:latin typeface="Cambria"/>
              </a:rPr>
              <a:t>13</a:t>
            </a:r>
          </a:p>
        </p:txBody>
      </p:sp>
      <p:sp>
        <p:nvSpPr>
          <p:cNvPr id="15" name="TextBox 14"/>
          <p:cNvSpPr txBox="1"/>
          <p:nvPr/>
        </p:nvSpPr>
        <p:spPr>
          <a:xfrm>
            <a:off x="6492240" y="2697480"/>
            <a:ext cx="2194560" cy="365760"/>
          </a:xfrm>
          <a:prstGeom prst="rect">
            <a:avLst/>
          </a:prstGeom>
          <a:noFill/>
        </p:spPr>
        <p:txBody>
          <a:bodyPr wrap="square" lIns="0" rIns="0" tIns="0" bIns="0" anchor="t">
            <a:spAutoFit/>
          </a:bodyPr>
          <a:lstStyle/>
          <a:p>
            <a:pPr algn="l">
              <a:lnSpc>
                <a:spcPct val="115000"/>
              </a:lnSpc>
              <a:spcAft>
                <a:spcPts val="0"/>
              </a:spcAft>
            </a:pPr>
            <a:r>
              <a:rPr sz="1300" b="0" i="0">
                <a:solidFill>
                  <a:srgbClr val="07161C"/>
                </a:solidFill>
                <a:latin typeface="Calibri"/>
              </a:rPr>
              <a:t>routers read directly</a:t>
            </a:r>
          </a:p>
        </p:txBody>
      </p:sp>
      <p:sp>
        <p:nvSpPr>
          <p:cNvPr id="16" name="TextBox 15"/>
          <p:cNvSpPr txBox="1"/>
          <p:nvPr/>
        </p:nvSpPr>
        <p:spPr>
          <a:xfrm>
            <a:off x="6492240" y="3035808"/>
            <a:ext cx="2194560" cy="731520"/>
          </a:xfrm>
          <a:prstGeom prst="rect">
            <a:avLst/>
          </a:prstGeom>
          <a:noFill/>
        </p:spPr>
        <p:txBody>
          <a:bodyPr wrap="square" lIns="0" rIns="0" tIns="0" bIns="0" anchor="t">
            <a:spAutoFit/>
          </a:bodyPr>
          <a:lstStyle/>
          <a:p>
            <a:pPr algn="l">
              <a:lnSpc>
                <a:spcPct val="115000"/>
              </a:lnSpc>
              <a:spcAft>
                <a:spcPts val="0"/>
              </a:spcAft>
            </a:pPr>
            <a:r>
              <a:rPr sz="1050" b="0" i="0">
                <a:solidFill>
                  <a:srgbClr val="64748B"/>
                </a:solidFill>
                <a:latin typeface="Calibri"/>
              </a:rPr>
              <a:t>their own RIB, VPN and per-VRF tables, over their API and over SSH</a:t>
            </a:r>
          </a:p>
        </p:txBody>
      </p:sp>
      <p:sp>
        <p:nvSpPr>
          <p:cNvPr id="17" name="Rounded Rectangle 16"/>
          <p:cNvSpPr/>
          <p:nvPr/>
        </p:nvSpPr>
        <p:spPr>
          <a:xfrm>
            <a:off x="9052559" y="1874519"/>
            <a:ext cx="2606040" cy="1874519"/>
          </a:xfrm>
          <a:prstGeom prst="roundRect">
            <a:avLst>
              <a:gd name="adj" fmla="val 4210"/>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59" y="2057400"/>
            <a:ext cx="2194560" cy="685800"/>
          </a:xfrm>
          <a:prstGeom prst="rect">
            <a:avLst/>
          </a:prstGeom>
          <a:noFill/>
        </p:spPr>
        <p:txBody>
          <a:bodyPr wrap="square" lIns="0" rIns="0" tIns="0" bIns="0" anchor="t">
            <a:spAutoFit/>
          </a:bodyPr>
          <a:lstStyle/>
          <a:p>
            <a:pPr algn="l">
              <a:lnSpc>
                <a:spcPct val="115000"/>
              </a:lnSpc>
              <a:spcAft>
                <a:spcPts val="0"/>
              </a:spcAft>
            </a:pPr>
            <a:r>
              <a:rPr sz="2600" b="0" i="0">
                <a:solidFill>
                  <a:srgbClr val="0E7490"/>
                </a:solidFill>
                <a:latin typeface="Cambria"/>
              </a:rPr>
              <a:t>25,235</a:t>
            </a:r>
          </a:p>
        </p:txBody>
      </p:sp>
      <p:sp>
        <p:nvSpPr>
          <p:cNvPr id="19" name="TextBox 18"/>
          <p:cNvSpPr txBox="1"/>
          <p:nvPr/>
        </p:nvSpPr>
        <p:spPr>
          <a:xfrm>
            <a:off x="9281159" y="2697480"/>
            <a:ext cx="2194560" cy="365760"/>
          </a:xfrm>
          <a:prstGeom prst="rect">
            <a:avLst/>
          </a:prstGeom>
          <a:noFill/>
        </p:spPr>
        <p:txBody>
          <a:bodyPr wrap="square" lIns="0" rIns="0" tIns="0" bIns="0" anchor="t">
            <a:spAutoFit/>
          </a:bodyPr>
          <a:lstStyle/>
          <a:p>
            <a:pPr algn="l">
              <a:lnSpc>
                <a:spcPct val="115000"/>
              </a:lnSpc>
              <a:spcAft>
                <a:spcPts val="0"/>
              </a:spcAft>
            </a:pPr>
            <a:r>
              <a:rPr sz="1300" b="0" i="0">
                <a:solidFill>
                  <a:srgbClr val="07161C"/>
                </a:solidFill>
                <a:latin typeface="Calibri"/>
              </a:rPr>
              <a:t>recorded changes</a:t>
            </a:r>
          </a:p>
        </p:txBody>
      </p:sp>
      <p:sp>
        <p:nvSpPr>
          <p:cNvPr id="20" name="TextBox 19"/>
          <p:cNvSpPr txBox="1"/>
          <p:nvPr/>
        </p:nvSpPr>
        <p:spPr>
          <a:xfrm>
            <a:off x="9281159" y="3035808"/>
            <a:ext cx="2194560" cy="731520"/>
          </a:xfrm>
          <a:prstGeom prst="rect">
            <a:avLst/>
          </a:prstGeom>
          <a:noFill/>
        </p:spPr>
        <p:txBody>
          <a:bodyPr wrap="square" lIns="0" rIns="0" tIns="0" bIns="0" anchor="t">
            <a:spAutoFit/>
          </a:bodyPr>
          <a:lstStyle/>
          <a:p>
            <a:pPr algn="l">
              <a:lnSpc>
                <a:spcPct val="115000"/>
              </a:lnSpc>
              <a:spcAft>
                <a:spcPts val="0"/>
              </a:spcAft>
            </a:pPr>
            <a:r>
              <a:rPr sz="1050" b="0" i="0">
                <a:solidFill>
                  <a:srgbClr val="64748B"/>
                </a:solidFill>
                <a:latin typeface="Calibri"/>
              </a:rPr>
              <a:t>announces, attribute changes and withdraws, reconciled per path</a:t>
            </a:r>
          </a:p>
        </p:txBody>
      </p:sp>
      <p:sp>
        <p:nvSpPr>
          <p:cNvPr id="21" name="Rounded Rectangle 20"/>
          <p:cNvSpPr/>
          <p:nvPr/>
        </p:nvSpPr>
        <p:spPr>
          <a:xfrm>
            <a:off x="685800" y="4069080"/>
            <a:ext cx="10817352" cy="2057400"/>
          </a:xfrm>
          <a:prstGeom prst="roundRect">
            <a:avLst>
              <a:gd name="adj" fmla="val 1014"/>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343400"/>
            <a:ext cx="10149840" cy="1737360"/>
          </a:xfrm>
          <a:prstGeom prst="rect">
            <a:avLst/>
          </a:prstGeom>
          <a:noFill/>
        </p:spPr>
        <p:txBody>
          <a:bodyPr wrap="square" lIns="0" rIns="0" tIns="0" bIns="0" anchor="t">
            <a:spAutoFit/>
          </a:bodyPr>
          <a:lstStyle/>
          <a:p>
            <a:pPr algn="l">
              <a:lnSpc>
                <a:spcPct val="135000"/>
              </a:lnSpc>
              <a:spcAft>
                <a:spcPts val="800"/>
              </a:spcAft>
            </a:pPr>
            <a:r>
              <a:rPr sz="1500" b="1" i="0">
                <a:solidFill>
                  <a:srgbClr val="1F2937"/>
                </a:solidFill>
                <a:latin typeface="Calibri"/>
              </a:rPr>
              <a:t>A looking glass that answers three questions, not one.</a:t>
            </a:r>
          </a:p>
          <a:p>
            <a:pPr algn="l">
              <a:lnSpc>
                <a:spcPct val="135000"/>
              </a:lnSpc>
              <a:spcAft>
                <a:spcPts val="0"/>
              </a:spcAft>
            </a:pPr>
            <a:r>
              <a:rPr sz="1500" b="0" i="0">
                <a:solidFill>
                  <a:srgbClr val="1F2937"/>
                </a:solidFill>
                <a:latin typeface="Calibri"/>
              </a:rPr>
              <a:t>What does the core carry, with the attributes the originating PE set? What does each router actually have, after import and after selection? And what did either of those look like at some moment in the past? The first needs a BGP session, the second needs the routers themselves, and the third needs a memory — so it has all three, and says which one every answer came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20095" cy="731520"/>
          </a:xfrm>
          <a:prstGeom prst="rect">
            <a:avLst/>
          </a:prstGeom>
          <a:noFill/>
        </p:spPr>
        <p:txBody>
          <a:bodyPr wrap="square" lIns="0" rIns="0" tIns="0" bIns="0" anchor="t">
            <a:spAutoFit/>
          </a:bodyPr>
          <a:lstStyle/>
          <a:p>
            <a:pPr algn="l">
              <a:lnSpc>
                <a:spcPct val="115000"/>
              </a:lnSpc>
              <a:spcAft>
                <a:spcPts val="0"/>
              </a:spcAft>
            </a:pPr>
            <a:r>
              <a:rPr sz="3000" b="0" i="0">
                <a:solidFill>
                  <a:srgbClr val="07161C"/>
                </a:solidFill>
                <a:latin typeface="Cambria"/>
              </a:rPr>
              <a:t>How it is wired</a:t>
            </a:r>
          </a:p>
        </p:txBody>
      </p:sp>
      <p:sp>
        <p:nvSpPr>
          <p:cNvPr id="4" name="TextBox 3"/>
          <p:cNvSpPr txBox="1"/>
          <p:nvPr/>
        </p:nvSpPr>
        <p:spPr>
          <a:xfrm>
            <a:off x="685800" y="1170432"/>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It joins the core as a reflector client on its own two links, and reads every other router besides.</a:t>
            </a:r>
          </a:p>
        </p:txBody>
      </p:sp>
      <p:sp>
        <p:nvSpPr>
          <p:cNvPr id="5" name="Rounded Rectangle 4"/>
          <p:cNvSpPr/>
          <p:nvPr/>
        </p:nvSpPr>
        <p:spPr>
          <a:xfrm>
            <a:off x="777240" y="2240280"/>
            <a:ext cx="2971800" cy="1508760"/>
          </a:xfrm>
          <a:prstGeom prst="roundRect">
            <a:avLst>
              <a:gd name="adj" fmla="val 3692"/>
            </a:avLst>
          </a:prstGeom>
          <a:solidFill>
            <a:srgbClr val="FFFFFF"/>
          </a:solidFill>
          <a:ln w="254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487168"/>
            <a:ext cx="2514600" cy="1051560"/>
          </a:xfrm>
          <a:prstGeom prst="rect">
            <a:avLst/>
          </a:prstGeom>
          <a:noFill/>
        </p:spPr>
        <p:txBody>
          <a:bodyPr wrap="square" lIns="0" rIns="0" tIns="0" bIns="0" anchor="t">
            <a:spAutoFit/>
          </a:bodyPr>
          <a:lstStyle/>
          <a:p>
            <a:pPr algn="l">
              <a:lnSpc>
                <a:spcPct val="130000"/>
              </a:lnSpc>
              <a:spcAft>
                <a:spcPts val="600"/>
              </a:spcAft>
            </a:pPr>
            <a:r>
              <a:rPr sz="2000" b="1" i="0">
                <a:solidFill>
                  <a:srgbClr val="0E7490"/>
                </a:solidFill>
                <a:latin typeface="Calibri"/>
              </a:rPr>
              <a:t>lg</a:t>
            </a:r>
          </a:p>
          <a:p>
            <a:pPr algn="l">
              <a:lnSpc>
                <a:spcPct val="130000"/>
              </a:lnSpc>
              <a:spcAft>
                <a:spcPts val="0"/>
              </a:spcAft>
            </a:pPr>
            <a:r>
              <a:rPr sz="1150" b="0" i="0">
                <a:solidFill>
                  <a:srgbClr val="64748B"/>
                </a:solidFill>
                <a:latin typeface="Calibri"/>
              </a:rPr>
              <a:t>Alpine + FRR · 512 MiB
AS 65000 · router-id 10.255.0.21</a:t>
            </a:r>
          </a:p>
        </p:txBody>
      </p:sp>
      <p:sp>
        <p:nvSpPr>
          <p:cNvPr id="7" name="Rectangle 6"/>
          <p:cNvSpPr/>
          <p:nvPr/>
        </p:nvSpPr>
        <p:spPr>
          <a:xfrm>
            <a:off x="3886200" y="2528315"/>
            <a:ext cx="2880360" cy="27432"/>
          </a:xfrm>
          <a:prstGeom prst="rect">
            <a:avLst/>
          </a:prstGeom>
          <a:solidFill>
            <a:srgbClr val="15803D"/>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39" y="2157984"/>
            <a:ext cx="274320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eth1   fd00:b:0:121::2</a:t>
            </a:r>
          </a:p>
        </p:txBody>
      </p:sp>
      <p:sp>
        <p:nvSpPr>
          <p:cNvPr id="9" name="Rounded Rectangle 8"/>
          <p:cNvSpPr/>
          <p:nvPr/>
        </p:nvSpPr>
        <p:spPr>
          <a:xfrm>
            <a:off x="6858000" y="2157984"/>
            <a:ext cx="2148840" cy="768096"/>
          </a:xfrm>
          <a:prstGeom prst="roundRect">
            <a:avLst>
              <a:gd name="adj" fmla="val 5106"/>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2322576"/>
            <a:ext cx="1737360" cy="548640"/>
          </a:xfrm>
          <a:prstGeom prst="rect">
            <a:avLst/>
          </a:prstGeom>
          <a:noFill/>
        </p:spPr>
        <p:txBody>
          <a:bodyPr wrap="square" lIns="0" rIns="0" tIns="0" bIns="0" anchor="t">
            <a:spAutoFit/>
          </a:bodyPr>
          <a:lstStyle/>
          <a:p>
            <a:pPr algn="l">
              <a:lnSpc>
                <a:spcPct val="125000"/>
              </a:lnSpc>
              <a:spcAft>
                <a:spcPts val="200"/>
              </a:spcAft>
            </a:pPr>
            <a:r>
              <a:rPr sz="1600" b="1" i="0">
                <a:solidFill>
                  <a:srgbClr val="15803D"/>
                </a:solidFill>
                <a:latin typeface="Calibri"/>
              </a:rPr>
              <a:t>p1</a:t>
            </a:r>
          </a:p>
          <a:p>
            <a:pPr algn="l">
              <a:lnSpc>
                <a:spcPct val="125000"/>
              </a:lnSpc>
              <a:spcAft>
                <a:spcPts val="0"/>
              </a:spcAft>
            </a:pPr>
            <a:r>
              <a:rPr sz="1050" b="0" i="0">
                <a:solidFill>
                  <a:srgbClr val="64748B"/>
                </a:solidFill>
                <a:latin typeface="Calibri"/>
              </a:rPr>
              <a:t>route reflector · eth5</a:t>
            </a:r>
          </a:p>
        </p:txBody>
      </p:sp>
      <p:sp>
        <p:nvSpPr>
          <p:cNvPr id="11" name="Rectangle 10"/>
          <p:cNvSpPr/>
          <p:nvPr/>
        </p:nvSpPr>
        <p:spPr>
          <a:xfrm>
            <a:off x="3886200" y="3534156"/>
            <a:ext cx="2880360" cy="27432"/>
          </a:xfrm>
          <a:prstGeom prst="rect">
            <a:avLst/>
          </a:prstGeom>
          <a:solidFill>
            <a:srgbClr val="15803D"/>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3163824"/>
            <a:ext cx="274320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eth2   fd00:b:0:321::2</a:t>
            </a:r>
          </a:p>
        </p:txBody>
      </p:sp>
      <p:sp>
        <p:nvSpPr>
          <p:cNvPr id="13" name="Rounded Rectangle 12"/>
          <p:cNvSpPr/>
          <p:nvPr/>
        </p:nvSpPr>
        <p:spPr>
          <a:xfrm>
            <a:off x="6858000" y="3163824"/>
            <a:ext cx="2148840" cy="768096"/>
          </a:xfrm>
          <a:prstGeom prst="roundRect">
            <a:avLst>
              <a:gd name="adj" fmla="val 5106"/>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3328415"/>
            <a:ext cx="1737360" cy="548640"/>
          </a:xfrm>
          <a:prstGeom prst="rect">
            <a:avLst/>
          </a:prstGeom>
          <a:noFill/>
        </p:spPr>
        <p:txBody>
          <a:bodyPr wrap="square" lIns="0" rIns="0" tIns="0" bIns="0" anchor="t">
            <a:spAutoFit/>
          </a:bodyPr>
          <a:lstStyle/>
          <a:p>
            <a:pPr algn="l">
              <a:lnSpc>
                <a:spcPct val="125000"/>
              </a:lnSpc>
              <a:spcAft>
                <a:spcPts val="200"/>
              </a:spcAft>
            </a:pPr>
            <a:r>
              <a:rPr sz="1600" b="1" i="0">
                <a:solidFill>
                  <a:srgbClr val="15803D"/>
                </a:solidFill>
                <a:latin typeface="Calibri"/>
              </a:rPr>
              <a:t>p3</a:t>
            </a:r>
          </a:p>
          <a:p>
            <a:pPr algn="l">
              <a:lnSpc>
                <a:spcPct val="125000"/>
              </a:lnSpc>
              <a:spcAft>
                <a:spcPts val="0"/>
              </a:spcAft>
            </a:pPr>
            <a:r>
              <a:rPr sz="1050" b="0" i="0">
                <a:solidFill>
                  <a:srgbClr val="64748B"/>
                </a:solidFill>
                <a:latin typeface="Calibri"/>
              </a:rPr>
              <a:t>route reflector · eth5</a:t>
            </a:r>
          </a:p>
        </p:txBody>
      </p:sp>
      <p:sp>
        <p:nvSpPr>
          <p:cNvPr id="15" name="TextBox 14"/>
          <p:cNvSpPr txBox="1"/>
          <p:nvPr/>
        </p:nvSpPr>
        <p:spPr>
          <a:xfrm>
            <a:off x="9189720" y="2606040"/>
            <a:ext cx="2377440" cy="914400"/>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the whole VPNv4 / VPNv6 table, one copy per reflector — and nothing announced back</a:t>
            </a:r>
          </a:p>
        </p:txBody>
      </p:sp>
      <p:sp>
        <p:nvSpPr>
          <p:cNvPr id="16" name="Rounded Rectangle 15"/>
          <p:cNvSpPr/>
          <p:nvPr/>
        </p:nvSpPr>
        <p:spPr>
          <a:xfrm>
            <a:off x="777240" y="4343400"/>
            <a:ext cx="3520440" cy="1234440"/>
          </a:xfrm>
          <a:prstGeom prst="roundRect">
            <a:avLst>
              <a:gd name="adj" fmla="val 311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1" y="4572000"/>
            <a:ext cx="3017520" cy="822960"/>
          </a:xfrm>
          <a:prstGeom prst="rect">
            <a:avLst/>
          </a:prstGeom>
          <a:noFill/>
        </p:spPr>
        <p:txBody>
          <a:bodyPr wrap="square" lIns="0" rIns="0" tIns="0" bIns="0" anchor="t">
            <a:spAutoFit/>
          </a:bodyPr>
          <a:lstStyle/>
          <a:p>
            <a:pPr algn="l">
              <a:lnSpc>
                <a:spcPct val="130000"/>
              </a:lnSpc>
              <a:spcAft>
                <a:spcPts val="500"/>
              </a:spcAft>
            </a:pPr>
            <a:r>
              <a:rPr sz="1400" b="1" i="0">
                <a:solidFill>
                  <a:srgbClr val="0E7490"/>
                </a:solidFill>
                <a:latin typeface="Calibri"/>
              </a:rPr>
              <a:t>SQLite</a:t>
            </a:r>
          </a:p>
          <a:p>
            <a:pPr algn="l">
              <a:lnSpc>
                <a:spcPct val="130000"/>
              </a:lnSpc>
              <a:spcAft>
                <a:spcPts val="0"/>
              </a:spcAft>
            </a:pPr>
            <a:r>
              <a:rPr sz="1200" b="0" i="0">
                <a:solidFill>
                  <a:srgbClr val="1F2937"/>
                </a:solidFill>
                <a:latin typeface="Calibri"/>
              </a:rPr>
              <a:t>every announce, attribute change and withdraw, per path — thirty days, pruned hourly</a:t>
            </a:r>
          </a:p>
        </p:txBody>
      </p:sp>
      <p:sp>
        <p:nvSpPr>
          <p:cNvPr id="18" name="Rounded Rectangle 17"/>
          <p:cNvSpPr/>
          <p:nvPr/>
        </p:nvSpPr>
        <p:spPr>
          <a:xfrm>
            <a:off x="4425696" y="4343400"/>
            <a:ext cx="3520440" cy="1234440"/>
          </a:xfrm>
          <a:prstGeom prst="roundRect">
            <a:avLst>
              <a:gd name="adj" fmla="val 311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1728" y="4572000"/>
            <a:ext cx="3017520" cy="822960"/>
          </a:xfrm>
          <a:prstGeom prst="rect">
            <a:avLst/>
          </a:prstGeom>
          <a:noFill/>
        </p:spPr>
        <p:txBody>
          <a:bodyPr wrap="square" lIns="0" rIns="0" tIns="0" bIns="0" anchor="t">
            <a:spAutoFit/>
          </a:bodyPr>
          <a:lstStyle/>
          <a:p>
            <a:pPr algn="l">
              <a:lnSpc>
                <a:spcPct val="130000"/>
              </a:lnSpc>
              <a:spcAft>
                <a:spcPts val="500"/>
              </a:spcAft>
            </a:pPr>
            <a:r>
              <a:rPr sz="1400" b="1" i="0">
                <a:solidFill>
                  <a:srgbClr val="0E7490"/>
                </a:solidFill>
                <a:latin typeface="Calibri"/>
              </a:rPr>
              <a:t>poll</a:t>
            </a:r>
          </a:p>
          <a:p>
            <a:pPr algn="l">
              <a:lnSpc>
                <a:spcPct val="130000"/>
              </a:lnSpc>
              <a:spcAft>
                <a:spcPts val="0"/>
              </a:spcAft>
            </a:pPr>
            <a:r>
              <a:rPr sz="1200" b="0" i="0">
                <a:solidFill>
                  <a:srgbClr val="1F2937"/>
                </a:solidFill>
                <a:latin typeface="Calibri"/>
              </a:rPr>
              <a:t>each PE, CE and the firewall, over their own HTTPS API and over SSH, every two minutes</a:t>
            </a:r>
          </a:p>
        </p:txBody>
      </p:sp>
      <p:sp>
        <p:nvSpPr>
          <p:cNvPr id="20" name="Rounded Rectangle 19"/>
          <p:cNvSpPr/>
          <p:nvPr/>
        </p:nvSpPr>
        <p:spPr>
          <a:xfrm>
            <a:off x="8074152" y="4343400"/>
            <a:ext cx="3520440" cy="1234440"/>
          </a:xfrm>
          <a:prstGeom prst="roundRect">
            <a:avLst>
              <a:gd name="adj" fmla="val 311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0183" y="4572000"/>
            <a:ext cx="3017520" cy="822960"/>
          </a:xfrm>
          <a:prstGeom prst="rect">
            <a:avLst/>
          </a:prstGeom>
          <a:noFill/>
        </p:spPr>
        <p:txBody>
          <a:bodyPr wrap="square" lIns="0" rIns="0" tIns="0" bIns="0" anchor="t">
            <a:spAutoFit/>
          </a:bodyPr>
          <a:lstStyle/>
          <a:p>
            <a:pPr algn="l">
              <a:lnSpc>
                <a:spcPct val="130000"/>
              </a:lnSpc>
              <a:spcAft>
                <a:spcPts val="500"/>
              </a:spcAft>
            </a:pPr>
            <a:r>
              <a:rPr sz="1400" b="1" i="0">
                <a:solidFill>
                  <a:srgbClr val="0E7490"/>
                </a:solidFill>
                <a:latin typeface="Calibri"/>
              </a:rPr>
              <a:t>Flask</a:t>
            </a:r>
          </a:p>
          <a:p>
            <a:pPr algn="l">
              <a:lnSpc>
                <a:spcPct val="130000"/>
              </a:lnSpc>
              <a:spcAft>
                <a:spcPts val="0"/>
              </a:spcAft>
            </a:pPr>
            <a:r>
              <a:rPr sz="1200" b="0" i="0">
                <a:solidFill>
                  <a:srgbClr val="1F2937"/>
                </a:solidFill>
                <a:latin typeface="Calibri"/>
              </a:rPr>
              <a:t>the page, /api/… for anything that wants the same answers, and /metrics for Prometheus</a:t>
            </a:r>
          </a:p>
        </p:txBody>
      </p:sp>
      <p:sp>
        <p:nvSpPr>
          <p:cNvPr id="22" name="TextBox 21"/>
          <p:cNvSpPr txBox="1"/>
          <p:nvPr/>
        </p:nvSpPr>
        <p:spPr>
          <a:xfrm>
            <a:off x="777240" y="5806440"/>
            <a:ext cx="10789920" cy="548640"/>
          </a:xfrm>
          <a:prstGeom prst="rect">
            <a:avLst/>
          </a:prstGeom>
          <a:noFill/>
        </p:spPr>
        <p:txBody>
          <a:bodyPr wrap="square" lIns="0" rIns="0" tIns="0" bIns="0" anchor="t">
            <a:spAutoFit/>
          </a:bodyPr>
          <a:lstStyle/>
          <a:p>
            <a:pPr algn="l">
              <a:lnSpc>
                <a:spcPct val="130000"/>
              </a:lnSpc>
              <a:spcAft>
                <a:spcPts val="0"/>
              </a:spcAft>
            </a:pPr>
            <a:r>
              <a:rPr sz="1250" b="0" i="0">
                <a:solidFill>
                  <a:srgbClr val="64748B"/>
                </a:solidFill>
                <a:latin typeface="Calibri"/>
              </a:rPr>
              <a:t>The reflectors' side of both links is rendered by tools/render.py like every other interface, and the VM is modelled in Nautobot like every other device — nautobot render --check compares its frr.conf and its lgd.json too.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The page you land on</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What the collector holds, the sessions it holds it over, the testbed, the per-family count over time, what each view holds, and the newest changes.</a:t>
            </a:r>
          </a:p>
        </p:txBody>
      </p:sp>
      <p:sp>
        <p:nvSpPr>
          <p:cNvPr id="5" name="Rounded Rectangle 4"/>
          <p:cNvSpPr/>
          <p:nvPr/>
        </p:nvSpPr>
        <p:spPr>
          <a:xfrm>
            <a:off x="630936" y="1636776"/>
            <a:ext cx="6895538" cy="4407408"/>
          </a:xfrm>
          <a:prstGeom prst="roundRect">
            <a:avLst>
              <a:gd name="adj" fmla="val 1060"/>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overview.png"/>
          <p:cNvPicPr>
            <a:picLocks noChangeAspect="1"/>
          </p:cNvPicPr>
          <p:nvPr/>
        </p:nvPicPr>
        <p:blipFill>
          <a:blip r:embed="rId2"/>
          <a:stretch>
            <a:fillRect/>
          </a:stretch>
        </p:blipFill>
        <p:spPr>
          <a:xfrm>
            <a:off x="685800" y="1691640"/>
            <a:ext cx="6785810" cy="4297680"/>
          </a:xfrm>
          <a:prstGeom prst="rect">
            <a:avLst/>
          </a:prstGeom>
        </p:spPr>
      </p:pic>
      <p:sp>
        <p:nvSpPr>
          <p:cNvPr id="7" name="TextBox 6"/>
          <p:cNvSpPr txBox="1"/>
          <p:nvPr/>
        </p:nvSpPr>
        <p:spPr>
          <a:xfrm>
            <a:off x="685800" y="6135624"/>
            <a:ext cx="678581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One page: the answer to “is it healthy and what does it have?” before any question is asked</a:t>
            </a:r>
          </a:p>
        </p:txBody>
      </p:sp>
      <p:sp>
        <p:nvSpPr>
          <p:cNvPr id="8" name="Rounded Rectangle 7"/>
          <p:cNvSpPr/>
          <p:nvPr/>
        </p:nvSpPr>
        <p:spPr>
          <a:xfrm>
            <a:off x="7883090" y="1691640"/>
            <a:ext cx="3622804" cy="4297680"/>
          </a:xfrm>
          <a:prstGeom prst="roundRect">
            <a:avLst>
              <a:gd name="adj" fmla="val 255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9122" y="1920240"/>
            <a:ext cx="3110740" cy="384048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Read the top row first</a:t>
            </a:r>
          </a:p>
          <a:p>
            <a:pPr algn="l">
              <a:lnSpc>
                <a:spcPct val="130000"/>
              </a:lnSpc>
              <a:spcAft>
                <a:spcPts val="900"/>
              </a:spcAft>
            </a:pPr>
            <a:r>
              <a:rPr sz="1250" b="0" i="0">
                <a:solidFill>
                  <a:srgbClr val="1F2937"/>
                </a:solidFill>
                <a:latin typeface="Calibri"/>
              </a:rPr>
              <a:t>Prefixes and paths are the core's table; tenant VRFs is how many the collector has ever seen.</a:t>
            </a:r>
          </a:p>
          <a:p>
            <a:pPr algn="l">
              <a:lnSpc>
                <a:spcPct val="130000"/>
              </a:lnSpc>
              <a:spcAft>
                <a:spcPts val="900"/>
              </a:spcAft>
            </a:pPr>
            <a:r>
              <a:rPr sz="1250" b="0" i="0">
                <a:solidFill>
                  <a:srgbClr val="1F2937"/>
                </a:solidFill>
                <a:latin typeface="Calibri"/>
              </a:rPr>
              <a:t>Reflector sessions is the one number that invalidates everything else if it is not 2/2.</a:t>
            </a:r>
          </a:p>
          <a:p>
            <a:pPr algn="l">
              <a:lnSpc>
                <a:spcPct val="130000"/>
              </a:lnSpc>
              <a:spcAft>
                <a:spcPts val="900"/>
              </a:spcAft>
            </a:pPr>
            <a:r>
              <a:rPr sz="1250" b="0" i="0">
                <a:solidFill>
                  <a:srgbClr val="1F2937"/>
                </a:solidFill>
                <a:latin typeface="Calibri"/>
              </a:rPr>
              <a:t>Changes in the last hour is the churn: a quiet core is a flat line, and a noisy one is visible here before anyone reports it.</a:t>
            </a:r>
          </a:p>
          <a:p>
            <a:pPr algn="l">
              <a:lnSpc>
                <a:spcPct val="130000"/>
              </a:lnSpc>
              <a:spcAft>
                <a:spcPts val="0"/>
              </a:spcAft>
            </a:pPr>
            <a:r>
              <a:rPr sz="1250" b="0" i="0">
                <a:solidFill>
                  <a:srgbClr val="1F2937"/>
                </a:solidFill>
                <a:latin typeface="Calibri"/>
              </a:rPr>
              <a:t>History kept is the size of the memory behind every question on the following slides.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20095" cy="731520"/>
          </a:xfrm>
          <a:prstGeom prst="rect">
            <a:avLst/>
          </a:prstGeom>
          <a:noFill/>
        </p:spPr>
        <p:txBody>
          <a:bodyPr wrap="square" lIns="0" rIns="0" tIns="0" bIns="0" anchor="t">
            <a:spAutoFit/>
          </a:bodyPr>
          <a:lstStyle/>
          <a:p>
            <a:pPr algn="l">
              <a:lnSpc>
                <a:spcPct val="115000"/>
              </a:lnSpc>
              <a:spcAft>
                <a:spcPts val="0"/>
              </a:spcAft>
            </a:pPr>
            <a:r>
              <a:rPr sz="3000" b="0" i="0">
                <a:solidFill>
                  <a:srgbClr val="07161C"/>
                </a:solidFill>
                <a:latin typeface="Cambria"/>
              </a:rPr>
              <a:t>Where it sits in the core</a:t>
            </a:r>
          </a:p>
        </p:txBody>
      </p:sp>
      <p:sp>
        <p:nvSpPr>
          <p:cNvPr id="4" name="TextBox 3"/>
          <p:cNvSpPr txBox="1"/>
          <p:nvPr/>
        </p:nvSpPr>
        <p:spPr>
          <a:xfrm>
            <a:off x="685800" y="1170432"/>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collector hangs off both route reflectors on its own point-to-point links, and touches nothing else.</a:t>
            </a:r>
          </a:p>
        </p:txBody>
      </p:sp>
      <p:sp>
        <p:nvSpPr>
          <p:cNvPr id="5" name="Rounded Rectangle 4"/>
          <p:cNvSpPr/>
          <p:nvPr/>
        </p:nvSpPr>
        <p:spPr>
          <a:xfrm>
            <a:off x="2053736" y="1682495"/>
            <a:ext cx="8081478" cy="2761488"/>
          </a:xfrm>
          <a:prstGeom prst="roundRect">
            <a:avLst>
              <a:gd name="adj" fmla="val 905"/>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topo.png"/>
          <p:cNvPicPr>
            <a:picLocks noChangeAspect="1"/>
          </p:cNvPicPr>
          <p:nvPr/>
        </p:nvPicPr>
        <p:blipFill>
          <a:blip r:embed="rId2"/>
          <a:stretch>
            <a:fillRect/>
          </a:stretch>
        </p:blipFill>
        <p:spPr>
          <a:xfrm>
            <a:off x="2108600" y="1737360"/>
            <a:ext cx="7971750" cy="2651760"/>
          </a:xfrm>
          <a:prstGeom prst="rect">
            <a:avLst/>
          </a:prstGeom>
        </p:spPr>
      </p:pic>
      <p:sp>
        <p:nvSpPr>
          <p:cNvPr id="7" name="TextBox 6"/>
          <p:cNvSpPr txBox="1"/>
          <p:nvPr/>
        </p:nvSpPr>
        <p:spPr>
          <a:xfrm>
            <a:off x="2108600" y="4517136"/>
            <a:ext cx="797175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Drawn from the model: the core band with the three P routers, a lane per data centre, and the two green sessions on the right</a:t>
            </a:r>
          </a:p>
        </p:txBody>
      </p:sp>
      <p:sp>
        <p:nvSpPr>
          <p:cNvPr id="8" name="Rounded Rectangle 7"/>
          <p:cNvSpPr/>
          <p:nvPr/>
        </p:nvSpPr>
        <p:spPr>
          <a:xfrm>
            <a:off x="685800" y="4956048"/>
            <a:ext cx="3361943" cy="139903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521208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It is a client, not a peer</a:t>
            </a:r>
          </a:p>
        </p:txBody>
      </p:sp>
      <p:sp>
        <p:nvSpPr>
          <p:cNvPr id="10" name="TextBox 9"/>
          <p:cNvSpPr txBox="1"/>
          <p:nvPr/>
        </p:nvSpPr>
        <p:spPr>
          <a:xfrm>
            <a:off x="941832" y="5669280"/>
            <a:ext cx="2849879" cy="42976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p1 and p3 reflect to it as they reflect to a PE — the whole table, with the originating PE's own attributes.</a:t>
            </a:r>
          </a:p>
        </p:txBody>
      </p:sp>
      <p:sp>
        <p:nvSpPr>
          <p:cNvPr id="11" name="Rounded Rectangle 10"/>
          <p:cNvSpPr/>
          <p:nvPr/>
        </p:nvSpPr>
        <p:spPr>
          <a:xfrm>
            <a:off x="4413504" y="4956048"/>
            <a:ext cx="3361943" cy="139903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9536" y="521208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It announces nothing</a:t>
            </a:r>
          </a:p>
        </p:txBody>
      </p:sp>
      <p:sp>
        <p:nvSpPr>
          <p:cNvPr id="13" name="TextBox 12"/>
          <p:cNvSpPr txBox="1"/>
          <p:nvPr/>
        </p:nvSpPr>
        <p:spPr>
          <a:xfrm>
            <a:off x="4669536" y="5669280"/>
            <a:ext cx="2849879" cy="42976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An outbound deny route-map says so, and both sessions report 0 sent: the core cannot be affected by it.</a:t>
            </a:r>
          </a:p>
        </p:txBody>
      </p:sp>
      <p:sp>
        <p:nvSpPr>
          <p:cNvPr id="14" name="Rounded Rectangle 13"/>
          <p:cNvSpPr/>
          <p:nvPr/>
        </p:nvSpPr>
        <p:spPr>
          <a:xfrm>
            <a:off x="8141207" y="4956048"/>
            <a:ext cx="3361943" cy="139903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7239" y="521208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A red link is a real fault</a:t>
            </a:r>
          </a:p>
        </p:txBody>
      </p:sp>
      <p:sp>
        <p:nvSpPr>
          <p:cNvPr id="16" name="TextBox 15"/>
          <p:cNvSpPr txBox="1"/>
          <p:nvPr/>
        </p:nvSpPr>
        <p:spPr>
          <a:xfrm>
            <a:off x="8397239" y="5669280"/>
            <a:ext cx="2849879" cy="42976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Core links go red where no router reports an IS-IS adjacency — coloured from what the routers say.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Why a session, and not screen-scraping</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collector receives the same update the reflector sent — route distinguisher, route targets, SRv6 SID and label, originator-id, cluster list, AS path, local preference.</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session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The sessions, and the health of every collection beneath them</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The subtle part</a:t>
            </a:r>
          </a:p>
          <a:p>
            <a:pPr algn="l">
              <a:lnSpc>
                <a:spcPct val="130000"/>
              </a:lnSpc>
              <a:spcAft>
                <a:spcPts val="900"/>
              </a:spcAft>
            </a:pPr>
            <a:r>
              <a:rPr sz="1250" b="0" i="0">
                <a:solidFill>
                  <a:srgbClr val="1F2937"/>
                </a:solidFill>
                <a:latin typeface="Calibri"/>
              </a:rPr>
              <a:t>The session negotiates capability extended-nexthop. Without it FRR rewrites the IPv6 next hop of every VPNv4 route to its own address — and every prefix in the core would look as though the reflector had originated it.</a:t>
            </a:r>
          </a:p>
          <a:p>
            <a:pPr algn="l">
              <a:lnSpc>
                <a:spcPct val="130000"/>
              </a:lnSpc>
              <a:spcAft>
                <a:spcPts val="900"/>
              </a:spcAft>
            </a:pPr>
            <a:r>
              <a:rPr sz="1250" b="0" i="0">
                <a:solidFill>
                  <a:srgbClr val="1F2937"/>
                </a:solidFill>
                <a:latin typeface="Calibri"/>
              </a:rPr>
              <a:t>With it, the originating PE's loopback is still the next hop, which is what makes the path on a later slide reconstructable at all.</a:t>
            </a:r>
          </a:p>
          <a:p>
            <a:pPr algn="l">
              <a:lnSpc>
                <a:spcPct val="130000"/>
              </a:lnSpc>
              <a:spcAft>
                <a:spcPts val="0"/>
              </a:spcAft>
            </a:pPr>
            <a:r>
              <a:rPr sz="1250" b="0" i="0">
                <a:solidFill>
                  <a:srgbClr val="1F2937"/>
                </a:solidFill>
                <a:latin typeface="Calibri"/>
              </a:rPr>
              <a:t>Screen-scraping a `show` command gives you the text a router chose to print. A session gives you what it sent.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And it reads every router directly, too</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core's table says what travels between PEs. What a tenant actually has is the VRF table after import; what the box will do with a packet is in its RIB.</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view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What each view holds, per router, VRF and family — with the transport it came over and when it was collected</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Three transports, one page</a:t>
            </a:r>
          </a:p>
          <a:p>
            <a:pPr algn="l">
              <a:lnSpc>
                <a:spcPct val="130000"/>
              </a:lnSpc>
              <a:spcAft>
                <a:spcPts val="900"/>
              </a:spcAft>
            </a:pPr>
            <a:r>
              <a:rPr sz="1250" b="0" i="0">
                <a:solidFill>
                  <a:srgbClr val="1F2937"/>
                </a:solidFill>
                <a:latin typeface="Calibri"/>
              </a:rPr>
              <a:t>rr-session — the whole VPNv4 / VPNv6 table, as the reflectors handed it over.</a:t>
            </a:r>
          </a:p>
          <a:p>
            <a:pPr algn="l">
              <a:lnSpc>
                <a:spcPct val="130000"/>
              </a:lnSpc>
              <a:spcAft>
                <a:spcPts val="900"/>
              </a:spcAft>
            </a:pPr>
            <a:r>
              <a:rPr sz="1250" b="0" i="0">
                <a:solidFill>
                  <a:srgbClr val="1F2937"/>
                </a:solidFill>
                <a:latin typeface="Calibri"/>
              </a:rPr>
              <a:t>router-api — each router's own HTTPS API: its RIB per VRF and family, its own VPN table, its IS-IS adjacencies.</a:t>
            </a:r>
          </a:p>
          <a:p>
            <a:pPr algn="l">
              <a:lnSpc>
                <a:spcPct val="130000"/>
              </a:lnSpc>
              <a:spcAft>
                <a:spcPts val="900"/>
              </a:spcAft>
            </a:pPr>
            <a:r>
              <a:rPr sz="1250" b="0" i="0">
                <a:solidFill>
                  <a:srgbClr val="1F2937"/>
                </a:solidFill>
                <a:latin typeface="Calibri"/>
              </a:rPr>
              <a:t>router-ssh — the per-VRF BGP tables, where the API has no JSON form for the question and the text form loses the attributes.</a:t>
            </a:r>
          </a:p>
          <a:p>
            <a:pPr algn="l">
              <a:lnSpc>
                <a:spcPct val="130000"/>
              </a:lnSpc>
              <a:spcAft>
                <a:spcPts val="0"/>
              </a:spcAft>
            </a:pPr>
            <a:r>
              <a:rPr sz="1250" b="0" i="0">
                <a:solidFill>
                  <a:srgbClr val="1F2937"/>
                </a:solidFill>
                <a:latin typeface="Calibri"/>
              </a:rPr>
              <a:t>Every row, everywhere in the product, carries which one it came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Its account of its own work</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Routers page: identity, the transports each box was read through, when, how much it holds, and the IS-IS adjacencies it reported.</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router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Thirteen routers, each with its own API key, read on a two-minute cycle</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Collection is a first-class thing</a:t>
            </a:r>
          </a:p>
          <a:p>
            <a:pPr algn="l">
              <a:lnSpc>
                <a:spcPct val="130000"/>
              </a:lnSpc>
              <a:spcAft>
                <a:spcPts val="900"/>
              </a:spcAft>
            </a:pPr>
            <a:r>
              <a:rPr sz="1250" b="0" i="0">
                <a:solidFill>
                  <a:srgbClr val="1F2937"/>
                </a:solidFill>
                <a:latin typeface="Calibri"/>
              </a:rPr>
              <a:t>A collection that failed is visible here rather than showing up as a prefix that quietly went missing.</a:t>
            </a:r>
          </a:p>
          <a:p>
            <a:pPr algn="l">
              <a:lnSpc>
                <a:spcPct val="130000"/>
              </a:lnSpc>
              <a:spcAft>
                <a:spcPts val="900"/>
              </a:spcAft>
            </a:pPr>
            <a:r>
              <a:rPr sz="1250" b="0" i="0">
                <a:solidFill>
                  <a:srgbClr val="1F2937"/>
                </a:solidFill>
                <a:latin typeface="Calibri"/>
              </a:rPr>
              <a:t>Each router's HTTPS API is rendered into its configuration like the rest of it — key srv6core-lab-looking-glass, reachable only from the collector and the lab host.</a:t>
            </a:r>
          </a:p>
          <a:p>
            <a:pPr algn="l">
              <a:lnSpc>
                <a:spcPct val="130000"/>
              </a:lnSpc>
              <a:spcAft>
                <a:spcPts val="0"/>
              </a:spcAft>
            </a:pPr>
            <a:r>
              <a:rPr sz="1250" b="0" i="0">
                <a:solidFill>
                  <a:srgbClr val="1F2937"/>
                </a:solidFill>
                <a:latin typeface="Calibri"/>
              </a:rPr>
              <a:t>So the same interface is open to anything else that wants it; the looking glass is one consumer, not a privileged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The prefix table</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One row per path, with its next hop, AS path, local preference, SRv6 SID and route targets — and, on the right, the view it came from and how it was read.</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prefixe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Filters for view, family, VRF, route distinguisher, origin AS and transport, plus free text over prefix, next hop, SID, route target and AS path</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The classic questions</a:t>
            </a:r>
          </a:p>
          <a:p>
            <a:pPr algn="l">
              <a:lnSpc>
                <a:spcPct val="130000"/>
              </a:lnSpc>
              <a:spcAft>
                <a:spcPts val="900"/>
              </a:spcAft>
            </a:pPr>
            <a:r>
              <a:rPr sz="1250" b="0" i="0">
                <a:solidFill>
                  <a:srgbClr val="1F2937"/>
                </a:solidFill>
                <a:latin typeface="Calibri"/>
              </a:rPr>
              <a:t>“Who originates this?” — origin AS and originating node are columns, not something to derive from an AS path.</a:t>
            </a:r>
          </a:p>
          <a:p>
            <a:pPr algn="l">
              <a:lnSpc>
                <a:spcPct val="130000"/>
              </a:lnSpc>
              <a:spcAft>
                <a:spcPts val="900"/>
              </a:spcAft>
            </a:pPr>
            <a:r>
              <a:rPr sz="1250" b="0" i="0">
                <a:solidFill>
                  <a:srgbClr val="1F2937"/>
                </a:solidFill>
                <a:latin typeface="Calibri"/>
              </a:rPr>
              <a:t>“Is it in the tenant's VRF, or only in the core?” — the view filter answers it directly.</a:t>
            </a:r>
          </a:p>
          <a:p>
            <a:pPr algn="l">
              <a:lnSpc>
                <a:spcPct val="130000"/>
              </a:lnSpc>
              <a:spcAft>
                <a:spcPts val="900"/>
              </a:spcAft>
            </a:pPr>
            <a:r>
              <a:rPr sz="1250" b="0" i="0">
                <a:solidFill>
                  <a:srgbClr val="1F2937"/>
                </a:solidFill>
                <a:latin typeface="Calibri"/>
              </a:rPr>
              <a:t>“What SID does it carry?” — the egress PE's End.DT46 is on the row, and the free-text box searches it.</a:t>
            </a:r>
          </a:p>
          <a:p>
            <a:pPr algn="l">
              <a:lnSpc>
                <a:spcPct val="130000"/>
              </a:lnSpc>
              <a:spcAft>
                <a:spcPts val="0"/>
              </a:spcAft>
            </a:pPr>
            <a:r>
              <a:rPr sz="1250" b="0" i="0">
                <a:solidFill>
                  <a:srgbClr val="1F2937"/>
                </a:solidFill>
                <a:latin typeface="Calibri"/>
              </a:rPr>
              <a:t>Every row has a path button, which is the next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20095" cy="731520"/>
          </a:xfrm>
          <a:prstGeom prst="rect">
            <a:avLst/>
          </a:prstGeom>
          <a:noFill/>
        </p:spPr>
        <p:txBody>
          <a:bodyPr wrap="square" lIns="0" rIns="0" tIns="0" bIns="0" anchor="t">
            <a:spAutoFit/>
          </a:bodyPr>
          <a:lstStyle/>
          <a:p>
            <a:pPr algn="l">
              <a:lnSpc>
                <a:spcPct val="115000"/>
              </a:lnSpc>
              <a:spcAft>
                <a:spcPts val="0"/>
              </a:spcAft>
            </a:pPr>
            <a:r>
              <a:rPr sz="3000" b="0" i="0">
                <a:solidFill>
                  <a:srgbClr val="07161C"/>
                </a:solidFill>
                <a:latin typeface="Cambria"/>
              </a:rPr>
              <a:t>Two answers to one question</a:t>
            </a:r>
          </a:p>
        </p:txBody>
      </p:sp>
      <p:sp>
        <p:nvSpPr>
          <p:cNvPr id="4" name="TextBox 3"/>
          <p:cNvSpPr txBox="1"/>
          <p:nvPr/>
        </p:nvSpPr>
        <p:spPr>
          <a:xfrm>
            <a:off x="685800" y="1170432"/>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same tenant, asked of the reflectors' table and then of the routers' own tables — and the difference is the point.</a:t>
            </a:r>
          </a:p>
        </p:txBody>
      </p:sp>
      <p:sp>
        <p:nvSpPr>
          <p:cNvPr id="5" name="Rounded Rectangle 4"/>
          <p:cNvSpPr/>
          <p:nvPr/>
        </p:nvSpPr>
        <p:spPr>
          <a:xfrm>
            <a:off x="630936" y="1728216"/>
            <a:ext cx="10927080" cy="947849"/>
          </a:xfrm>
          <a:prstGeom prst="roundRect">
            <a:avLst>
              <a:gd name="adj" fmla="val 669"/>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filter-session.png"/>
          <p:cNvPicPr>
            <a:picLocks noChangeAspect="1"/>
          </p:cNvPicPr>
          <p:nvPr/>
        </p:nvPicPr>
        <p:blipFill>
          <a:blip r:embed="rId2"/>
          <a:stretch>
            <a:fillRect/>
          </a:stretch>
        </p:blipFill>
        <p:spPr>
          <a:xfrm>
            <a:off x="685800" y="1783080"/>
            <a:ext cx="10817352" cy="838121"/>
          </a:xfrm>
          <a:prstGeom prst="rect">
            <a:avLst/>
          </a:prstGeom>
        </p:spPr>
      </p:pic>
      <p:sp>
        <p:nvSpPr>
          <p:cNvPr id="7" name="TextBox 6"/>
          <p:cNvSpPr txBox="1"/>
          <p:nvPr/>
        </p:nvSpPr>
        <p:spPr>
          <a:xfrm>
            <a:off x="685800" y="2740073"/>
            <a:ext cx="108173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How it was read: session — tenant-a as the reflectors handed it over</a:t>
            </a:r>
          </a:p>
        </p:txBody>
      </p:sp>
      <p:sp>
        <p:nvSpPr>
          <p:cNvPr id="8" name="Rounded Rectangle 7"/>
          <p:cNvSpPr/>
          <p:nvPr/>
        </p:nvSpPr>
        <p:spPr>
          <a:xfrm>
            <a:off x="630936" y="3133265"/>
            <a:ext cx="10927080" cy="947849"/>
          </a:xfrm>
          <a:prstGeom prst="roundRect">
            <a:avLst>
              <a:gd name="adj" fmla="val 669"/>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ck-lg-filter-api.png"/>
          <p:cNvPicPr>
            <a:picLocks noChangeAspect="1"/>
          </p:cNvPicPr>
          <p:nvPr/>
        </p:nvPicPr>
        <p:blipFill>
          <a:blip r:embed="rId3"/>
          <a:stretch>
            <a:fillRect/>
          </a:stretch>
        </p:blipFill>
        <p:spPr>
          <a:xfrm>
            <a:off x="685800" y="3188129"/>
            <a:ext cx="10817352" cy="838121"/>
          </a:xfrm>
          <a:prstGeom prst="rect">
            <a:avLst/>
          </a:prstGeom>
        </p:spPr>
      </p:pic>
      <p:sp>
        <p:nvSpPr>
          <p:cNvPr id="10" name="TextBox 9"/>
          <p:cNvSpPr txBox="1"/>
          <p:nvPr/>
        </p:nvSpPr>
        <p:spPr>
          <a:xfrm>
            <a:off x="685800" y="4145122"/>
            <a:ext cx="108173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How it was read: router API — tenant-a as the routers themselves installed it</a:t>
            </a:r>
          </a:p>
        </p:txBody>
      </p:sp>
      <p:sp>
        <p:nvSpPr>
          <p:cNvPr id="11" name="TextBox 10"/>
          <p:cNvSpPr txBox="1"/>
          <p:nvPr/>
        </p:nvSpPr>
        <p:spPr>
          <a:xfrm>
            <a:off x="685800" y="4638898"/>
            <a:ext cx="10817352" cy="2036221"/>
          </a:xfrm>
          <a:prstGeom prst="rect">
            <a:avLst/>
          </a:prstGeom>
          <a:noFill/>
        </p:spPr>
        <p:txBody>
          <a:bodyPr wrap="square" lIns="0" rIns="0" tIns="0" bIns="0" anchor="t">
            <a:spAutoFit/>
          </a:bodyPr>
          <a:lstStyle/>
          <a:p>
            <a:pPr algn="l">
              <a:lnSpc>
                <a:spcPct val="130000"/>
              </a:lnSpc>
              <a:spcAft>
                <a:spcPts val="800"/>
              </a:spcAft>
            </a:pPr>
            <a:r>
              <a:rPr sz="1250" b="0" i="0">
                <a:solidFill>
                  <a:srgbClr val="1F2937"/>
                </a:solidFill>
                <a:latin typeface="Calibri"/>
              </a:rPr>
              <a:t>The core's table is one path per prefix per originating PE. A router's own tables are what survived import into the VRF and what selection actually installed in its RIB — different counts, legitimately, and the gap between them is where import and selection problems live.</a:t>
            </a:r>
          </a:p>
          <a:p>
            <a:pPr algn="l">
              <a:lnSpc>
                <a:spcPct val="130000"/>
              </a:lnSpc>
              <a:spcAft>
                <a:spcPts val="0"/>
              </a:spcAft>
            </a:pPr>
            <a:r>
              <a:rPr sz="1250" b="0" i="0">
                <a:solidFill>
                  <a:srgbClr val="1F2937"/>
                </a:solidFill>
                <a:latin typeface="Calibri"/>
              </a:rPr>
              <a:t>A looking glass that silently merged the two, or showed one and called it the truth, would be one you could not trust. So the transport is a filter here, a column on every row, and a pill beside every view — everywhere in the product.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The path, router by router</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For one prefix from a chosen vantage point: the map with the path lit up and its hops numbered, then a card per hop.</a:t>
            </a:r>
          </a:p>
        </p:txBody>
      </p:sp>
      <p:sp>
        <p:nvSpPr>
          <p:cNvPr id="5" name="Rounded Rectangle 4"/>
          <p:cNvSpPr/>
          <p:nvPr/>
        </p:nvSpPr>
        <p:spPr>
          <a:xfrm>
            <a:off x="630936" y="1636776"/>
            <a:ext cx="6751159" cy="4315968"/>
          </a:xfrm>
          <a:prstGeom prst="roundRect">
            <a:avLst>
              <a:gd name="adj" fmla="val 108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path.png"/>
          <p:cNvPicPr>
            <a:picLocks noChangeAspect="1"/>
          </p:cNvPicPr>
          <p:nvPr/>
        </p:nvPicPr>
        <p:blipFill>
          <a:blip r:embed="rId2"/>
          <a:stretch>
            <a:fillRect/>
          </a:stretch>
        </p:blipFill>
        <p:spPr>
          <a:xfrm>
            <a:off x="685800" y="1691640"/>
            <a:ext cx="6641431" cy="4206240"/>
          </a:xfrm>
          <a:prstGeom prst="rect">
            <a:avLst/>
          </a:prstGeom>
        </p:spPr>
      </p:pic>
      <p:sp>
        <p:nvSpPr>
          <p:cNvPr id="7" name="TextBox 6"/>
          <p:cNvSpPr txBox="1"/>
          <p:nvPr/>
        </p:nvSpPr>
        <p:spPr>
          <a:xfrm>
            <a:off x="685800" y="6044183"/>
            <a:ext cx="6641431"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dc1-h1 → 172.20.3.0/24: the CE's eBGP hand-off, pe1's import and SRv6 encapsulation, p2, pe3's End.DT46 decapsulation, ce3, the host</a:t>
            </a:r>
          </a:p>
        </p:txBody>
      </p:sp>
      <p:sp>
        <p:nvSpPr>
          <p:cNvPr id="8" name="Rounded Rectangle 7"/>
          <p:cNvSpPr/>
          <p:nvPr/>
        </p:nvSpPr>
        <p:spPr>
          <a:xfrm>
            <a:off x="7738711" y="1691640"/>
            <a:ext cx="3767183" cy="4206240"/>
          </a:xfrm>
          <a:prstGeom prst="roundRect">
            <a:avLst>
              <a:gd name="adj" fmla="val 2608"/>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94743" y="1920240"/>
            <a:ext cx="3255119" cy="3749039"/>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Two sources, and the card says which</a:t>
            </a:r>
          </a:p>
          <a:p>
            <a:pPr algn="l">
              <a:lnSpc>
                <a:spcPct val="130000"/>
              </a:lnSpc>
              <a:spcAft>
                <a:spcPts val="900"/>
              </a:spcAft>
            </a:pPr>
            <a:r>
              <a:rPr sz="1250" b="0" i="0">
                <a:solidFill>
                  <a:srgbClr val="1F2937"/>
                </a:solidFill>
                <a:latin typeface="Calibri"/>
              </a:rPr>
              <a:t>The route and its attributes come from the session; what the router will really do with the packet comes from its own RIB.</a:t>
            </a:r>
          </a:p>
          <a:p>
            <a:pPr algn="l">
              <a:lnSpc>
                <a:spcPct val="130000"/>
              </a:lnSpc>
              <a:spcAft>
                <a:spcPts val="900"/>
              </a:spcAft>
            </a:pPr>
            <a:r>
              <a:rPr sz="1250" b="0" i="0">
                <a:solidFill>
                  <a:srgbClr val="1F2937"/>
                </a:solidFill>
                <a:latin typeface="Calibri"/>
              </a:rPr>
              <a:t>Equal-cost paths are named rather than silently collapsed into one line.</a:t>
            </a:r>
          </a:p>
          <a:p>
            <a:pPr algn="l">
              <a:lnSpc>
                <a:spcPct val="130000"/>
              </a:lnSpc>
              <a:spcAft>
                <a:spcPts val="900"/>
              </a:spcAft>
            </a:pPr>
            <a:r>
              <a:rPr sz="1250" b="0" i="0">
                <a:solidFill>
                  <a:srgbClr val="1F2937"/>
                </a:solidFill>
                <a:latin typeface="Calibri"/>
              </a:rPr>
              <a:t>A steered prefix is drawn along the segment list its policy installed — the uSID carrier is unpacked back into the routers it names.</a:t>
            </a:r>
          </a:p>
          <a:p>
            <a:pPr algn="l">
              <a:lnSpc>
                <a:spcPct val="130000"/>
              </a:lnSpc>
              <a:spcAft>
                <a:spcPts val="0"/>
              </a:spcAft>
            </a:pPr>
            <a:r>
              <a:rPr sz="1250" b="0" i="0">
                <a:solidFill>
                  <a:srgbClr val="1F2937"/>
                </a:solidFill>
                <a:latin typeface="Calibri"/>
              </a:rPr>
              <a:t>Ask the same prefix from a different router and the diagram is rebuilt from that router's 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One prefix, every view at once</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core's VPN table, each reflector's and PE's own VPN table, each PE's and CE's VRF table, and every router's RIB — in one page.</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prefix-view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Each with its full attribute set and a pill saying how it was read</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Where the answers differ is the diagnosis</a:t>
            </a:r>
          </a:p>
          <a:p>
            <a:pPr algn="l">
              <a:lnSpc>
                <a:spcPct val="130000"/>
              </a:lnSpc>
              <a:spcAft>
                <a:spcPts val="900"/>
              </a:spcAft>
            </a:pPr>
            <a:r>
              <a:rPr sz="1250" b="0" i="0">
                <a:solidFill>
                  <a:srgbClr val="1F2937"/>
                </a:solidFill>
                <a:latin typeface="Calibri"/>
              </a:rPr>
              <a:t>In the core but missing from a VRF: an import problem — a route target that does not match.</a:t>
            </a:r>
          </a:p>
          <a:p>
            <a:pPr algn="l">
              <a:lnSpc>
                <a:spcPct val="130000"/>
              </a:lnSpc>
              <a:spcAft>
                <a:spcPts val="900"/>
              </a:spcAft>
            </a:pPr>
            <a:r>
              <a:rPr sz="1250" b="0" i="0">
                <a:solidFill>
                  <a:srgbClr val="1F2937"/>
                </a:solidFill>
                <a:latin typeface="Calibri"/>
              </a:rPr>
              <a:t>In the VRF but not in the RIB: a selection problem — something else won.</a:t>
            </a:r>
          </a:p>
          <a:p>
            <a:pPr algn="l">
              <a:lnSpc>
                <a:spcPct val="130000"/>
              </a:lnSpc>
              <a:spcAft>
                <a:spcPts val="0"/>
              </a:spcAft>
            </a:pPr>
            <a:r>
              <a:rPr sz="1250" b="0" i="0">
                <a:solidFill>
                  <a:srgbClr val="1F2937"/>
                </a:solidFill>
                <a:latin typeface="Calibri"/>
              </a:rPr>
              <a:t>Attributes are shown whole: route targets, originator-id, cluster list, SID, transposed SID, label, and the selection reason the router gave.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Everything that has happened to it</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Each collection is reconciled against what is stored, so the history is a log of events rather than a pile of snapshots.</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history.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168 events for this one prefix, each with the fields that changed</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Reconciled, not sampled</a:t>
            </a:r>
          </a:p>
          <a:p>
            <a:pPr algn="l">
              <a:lnSpc>
                <a:spcPct val="130000"/>
              </a:lnSpc>
              <a:spcAft>
                <a:spcPts val="900"/>
              </a:spcAft>
            </a:pPr>
            <a:r>
              <a:rPr sz="1250" b="0" i="0">
                <a:solidFill>
                  <a:srgbClr val="1F2937"/>
                </a:solidFill>
                <a:latin typeface="Calibri"/>
              </a:rPr>
              <a:t>A path that is new raises an announce; one whose attributes differ raises a change carrying the difference — local_pref: 100 → 200; one that has gone raises a withdraw.</a:t>
            </a:r>
          </a:p>
          <a:p>
            <a:pPr algn="l">
              <a:lnSpc>
                <a:spcPct val="130000"/>
              </a:lnSpc>
              <a:spcAft>
                <a:spcPts val="900"/>
              </a:spcAft>
            </a:pPr>
            <a:r>
              <a:rPr sz="1250" b="0" i="0">
                <a:solidFill>
                  <a:srgbClr val="1F2937"/>
                </a:solidFill>
                <a:latin typeface="Calibri"/>
              </a:rPr>
              <a:t>So the storage is proportional to what actually changed, not to how often it was polled.</a:t>
            </a:r>
          </a:p>
          <a:p>
            <a:pPr algn="l">
              <a:lnSpc>
                <a:spcPct val="130000"/>
              </a:lnSpc>
              <a:spcAft>
                <a:spcPts val="0"/>
              </a:spcAft>
            </a:pPr>
            <a:r>
              <a:rPr sz="1250" b="0" i="0">
                <a:solidFill>
                  <a:srgbClr val="1F2937"/>
                </a:solidFill>
                <a:latin typeface="Calibri"/>
              </a:rPr>
              <a:t>Thirty days are kept and pruned hourly, and the database survives a restart of the collector or of the VM.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And the slider replays it</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Drag it and every table on the page re-renders as it stood at that moment — and so does the path diagram.</a:t>
            </a:r>
          </a:p>
        </p:txBody>
      </p:sp>
      <p:sp>
        <p:nvSpPr>
          <p:cNvPr id="5" name="Rounded Rectangle 4"/>
          <p:cNvSpPr/>
          <p:nvPr/>
        </p:nvSpPr>
        <p:spPr>
          <a:xfrm>
            <a:off x="630936" y="1636776"/>
            <a:ext cx="6751159" cy="4315968"/>
          </a:xfrm>
          <a:prstGeom prst="roundRect">
            <a:avLst>
              <a:gd name="adj" fmla="val 108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timetravel.png"/>
          <p:cNvPicPr>
            <a:picLocks noChangeAspect="1"/>
          </p:cNvPicPr>
          <p:nvPr/>
        </p:nvPicPr>
        <p:blipFill>
          <a:blip r:embed="rId2"/>
          <a:stretch>
            <a:fillRect/>
          </a:stretch>
        </p:blipFill>
        <p:spPr>
          <a:xfrm>
            <a:off x="685800" y="1691640"/>
            <a:ext cx="6641431" cy="4206240"/>
          </a:xfrm>
          <a:prstGeom prst="rect">
            <a:avLst/>
          </a:prstGeom>
        </p:spPr>
      </p:pic>
      <p:sp>
        <p:nvSpPr>
          <p:cNvPr id="7" name="TextBox 6"/>
          <p:cNvSpPr txBox="1"/>
          <p:nvPr/>
        </p:nvSpPr>
        <p:spPr>
          <a:xfrm>
            <a:off x="685800" y="6044183"/>
            <a:ext cx="6641431"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“As it stood 31 minutes ago”: 33 paths in 12 views, with 168 of 168 recorded changes having happened</a:t>
            </a:r>
          </a:p>
        </p:txBody>
      </p:sp>
      <p:sp>
        <p:nvSpPr>
          <p:cNvPr id="8" name="Rounded Rectangle 7"/>
          <p:cNvSpPr/>
          <p:nvPr/>
        </p:nvSpPr>
        <p:spPr>
          <a:xfrm>
            <a:off x="7738711" y="1691640"/>
            <a:ext cx="3767183" cy="4206240"/>
          </a:xfrm>
          <a:prstGeom prst="roundRect">
            <a:avLst>
              <a:gd name="adj" fmla="val 2608"/>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94743" y="1920240"/>
            <a:ext cx="3255119" cy="3749039"/>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Why the path matters here</a:t>
            </a:r>
          </a:p>
          <a:p>
            <a:pPr algn="l">
              <a:lnSpc>
                <a:spcPct val="130000"/>
              </a:lnSpc>
              <a:spcAft>
                <a:spcPts val="900"/>
              </a:spcAft>
            </a:pPr>
            <a:r>
              <a:rPr sz="1250" b="0" i="0">
                <a:solidFill>
                  <a:srgbClr val="1F2937"/>
                </a:solidFill>
                <a:latin typeface="Calibri"/>
              </a:rPr>
              <a:t>The forwarding state comes out of the RIB history, not out of today's routers — so a policy that steered this prefix an hour ago is still drawn the way it steered it.</a:t>
            </a:r>
          </a:p>
          <a:p>
            <a:pPr algn="l">
              <a:lnSpc>
                <a:spcPct val="130000"/>
              </a:lnSpc>
              <a:spcAft>
                <a:spcPts val="900"/>
              </a:spcAft>
            </a:pPr>
            <a:r>
              <a:rPr sz="1250" b="0" i="0">
                <a:solidFill>
                  <a:srgbClr val="1F2937"/>
                </a:solidFill>
                <a:latin typeface="Calibri"/>
              </a:rPr>
              <a:t>◀ and ▶ snap to the moment just after each recorded change, so nothing is missed between two drags of a slider.</a:t>
            </a:r>
          </a:p>
          <a:p>
            <a:pPr algn="l">
              <a:lnSpc>
                <a:spcPct val="130000"/>
              </a:lnSpc>
              <a:spcAft>
                <a:spcPts val="0"/>
              </a:spcAft>
            </a:pPr>
            <a:r>
              <a:rPr sz="1250" b="0" i="0">
                <a:solidFill>
                  <a:srgbClr val="1F2937"/>
                </a:solidFill>
                <a:latin typeface="Calibri"/>
              </a:rPr>
              <a:t>GET /api/state?at=… and GET /api/path?…&amp;at=… are the same replay, for anything that wants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“When did this prefix go away?”</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change log for the whole core, newest first, filterable by prefix, by kind and by age.</a:t>
            </a:r>
          </a:p>
        </p:txBody>
      </p:sp>
      <p:sp>
        <p:nvSpPr>
          <p:cNvPr id="5" name="Rounded Rectangle 4"/>
          <p:cNvSpPr/>
          <p:nvPr/>
        </p:nvSpPr>
        <p:spPr>
          <a:xfrm>
            <a:off x="630936" y="1636776"/>
            <a:ext cx="6606780" cy="4224528"/>
          </a:xfrm>
          <a:prstGeom prst="roundRect">
            <a:avLst>
              <a:gd name="adj" fmla="val 1107"/>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withdraws.png"/>
          <p:cNvPicPr>
            <a:picLocks noChangeAspect="1"/>
          </p:cNvPicPr>
          <p:nvPr/>
        </p:nvPicPr>
        <p:blipFill>
          <a:blip r:embed="rId2"/>
          <a:stretch>
            <a:fillRect/>
          </a:stretch>
        </p:blipFill>
        <p:spPr>
          <a:xfrm>
            <a:off x="685800" y="1691640"/>
            <a:ext cx="6497052" cy="4114800"/>
          </a:xfrm>
          <a:prstGeom prst="rect">
            <a:avLst/>
          </a:prstGeom>
        </p:spPr>
      </p:pic>
      <p:sp>
        <p:nvSpPr>
          <p:cNvPr id="7" name="TextBox 6"/>
          <p:cNvSpPr txBox="1"/>
          <p:nvPr/>
        </p:nvSpPr>
        <p:spPr>
          <a:xfrm>
            <a:off x="685800" y="5952744"/>
            <a:ext cx="6497052"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Withdraws only — the question a looking glass without a memory cannot answer at all</a:t>
            </a:r>
          </a:p>
        </p:txBody>
      </p:sp>
      <p:sp>
        <p:nvSpPr>
          <p:cNvPr id="8" name="Rounded Rectangle 7"/>
          <p:cNvSpPr/>
          <p:nvPr/>
        </p:nvSpPr>
        <p:spPr>
          <a:xfrm>
            <a:off x="7594332" y="1691640"/>
            <a:ext cx="3911562" cy="4114800"/>
          </a:xfrm>
          <a:prstGeom prst="roundRect">
            <a:avLst>
              <a:gd name="adj" fmla="val 266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50364" y="1920240"/>
            <a:ext cx="3399498" cy="3657600"/>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The operational value</a:t>
            </a:r>
          </a:p>
          <a:p>
            <a:pPr algn="l">
              <a:lnSpc>
                <a:spcPct val="130000"/>
              </a:lnSpc>
              <a:spcAft>
                <a:spcPts val="900"/>
              </a:spcAft>
            </a:pPr>
            <a:r>
              <a:rPr sz="1250" b="0" i="0">
                <a:solidFill>
                  <a:srgbClr val="1F2937"/>
                </a:solidFill>
                <a:latin typeface="Calibri"/>
              </a:rPr>
              <a:t>A prefix that is missing now tells you nothing about when it went, or which PE stopped originating it. This does.</a:t>
            </a:r>
          </a:p>
          <a:p>
            <a:pPr algn="l">
              <a:lnSpc>
                <a:spcPct val="130000"/>
              </a:lnSpc>
              <a:spcAft>
                <a:spcPts val="900"/>
              </a:spcAft>
            </a:pPr>
            <a:r>
              <a:rPr sz="1250" b="0" i="0">
                <a:solidFill>
                  <a:srgbClr val="1F2937"/>
                </a:solidFill>
                <a:latin typeface="Calibri"/>
              </a:rPr>
              <a:t>The same log answers “what changed in the last hour?” across the whole core, which is the churn number on the front page.</a:t>
            </a:r>
          </a:p>
          <a:p>
            <a:pPr algn="l">
              <a:lnSpc>
                <a:spcPct val="130000"/>
              </a:lnSpc>
              <a:spcAft>
                <a:spcPts val="0"/>
              </a:spcAft>
            </a:pPr>
            <a:r>
              <a:rPr sz="1250" b="0" i="0">
                <a:solidFill>
                  <a:srgbClr val="1F2937"/>
                </a:solidFill>
                <a:latin typeface="Calibri"/>
              </a:rPr>
              <a:t>Every event carries its view and its transport, so a withdraw seen only by one router is distinguishable from one the core agreed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And the classic button: a command on a router</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Only show …, ping and traceroute, and only on the lab's own devices — over the same HTTPS API the collector polls with.</a:t>
            </a:r>
          </a:p>
        </p:txBody>
      </p:sp>
      <p:sp>
        <p:nvSpPr>
          <p:cNvPr id="5" name="Rounded Rectangle 4"/>
          <p:cNvSpPr/>
          <p:nvPr/>
        </p:nvSpPr>
        <p:spPr>
          <a:xfrm>
            <a:off x="630936" y="1636776"/>
            <a:ext cx="7790688" cy="3553464"/>
          </a:xfrm>
          <a:prstGeom prst="roundRect">
            <a:avLst>
              <a:gd name="adj" fmla="val 938"/>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query.png"/>
          <p:cNvPicPr>
            <a:picLocks noChangeAspect="1"/>
          </p:cNvPicPr>
          <p:nvPr/>
        </p:nvPicPr>
        <p:blipFill>
          <a:blip r:embed="rId2"/>
          <a:stretch>
            <a:fillRect/>
          </a:stretch>
        </p:blipFill>
        <p:spPr>
          <a:xfrm>
            <a:off x="685800" y="1691640"/>
            <a:ext cx="7680960" cy="3443736"/>
          </a:xfrm>
          <a:prstGeom prst="rect">
            <a:avLst/>
          </a:prstGeom>
        </p:spPr>
      </p:pic>
      <p:sp>
        <p:nvSpPr>
          <p:cNvPr id="7" name="TextBox 6"/>
          <p:cNvSpPr txBox="1"/>
          <p:nvPr/>
        </p:nvSpPr>
        <p:spPr>
          <a:xfrm>
            <a:off x="685800" y="5281680"/>
            <a:ext cx="768096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pe1, asked for the route the collector's session carries — route target, originator, cluster list, remote SID and its structure</a:t>
            </a:r>
          </a:p>
        </p:txBody>
      </p:sp>
      <p:sp>
        <p:nvSpPr>
          <p:cNvPr id="8" name="Rounded Rectangle 7"/>
          <p:cNvSpPr/>
          <p:nvPr/>
        </p:nvSpPr>
        <p:spPr>
          <a:xfrm>
            <a:off x="8778240" y="1691640"/>
            <a:ext cx="2727655" cy="3443736"/>
          </a:xfrm>
          <a:prstGeom prst="roundRect">
            <a:avLst>
              <a:gd name="adj" fmla="val 318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34272" y="1920240"/>
            <a:ext cx="2215591" cy="2986536"/>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Narrow on purpose</a:t>
            </a:r>
          </a:p>
          <a:p>
            <a:pPr algn="l">
              <a:lnSpc>
                <a:spcPct val="130000"/>
              </a:lnSpc>
              <a:spcAft>
                <a:spcPts val="900"/>
              </a:spcAft>
            </a:pPr>
            <a:r>
              <a:rPr sz="1250" b="0" i="0">
                <a:solidFill>
                  <a:srgbClr val="1F2937"/>
                </a:solidFill>
                <a:latin typeface="Calibri"/>
              </a:rPr>
              <a:t>No extra access path exists for the button: it is the router API already rendered into every configuration, with the same key and the same allow-client.</a:t>
            </a:r>
          </a:p>
          <a:p>
            <a:pPr algn="l">
              <a:lnSpc>
                <a:spcPct val="130000"/>
              </a:lnSpc>
              <a:spcAft>
                <a:spcPts val="900"/>
              </a:spcAft>
            </a:pPr>
            <a:r>
              <a:rPr sz="1250" b="0" i="0">
                <a:solidFill>
                  <a:srgbClr val="1F2937"/>
                </a:solidFill>
                <a:latin typeface="Calibri"/>
              </a:rPr>
              <a:t>Three verbs, validated server-side, against the lab's own device list — a looking glass is a read-only instrument and this keeps it one.</a:t>
            </a:r>
          </a:p>
          <a:p>
            <a:pPr algn="l">
              <a:lnSpc>
                <a:spcPct val="130000"/>
              </a:lnSpc>
              <a:spcAft>
                <a:spcPts val="0"/>
              </a:spcAft>
            </a:pPr>
            <a:r>
              <a:rPr sz="1250" b="0" i="0">
                <a:solidFill>
                  <a:srgbClr val="1F2937"/>
                </a:solidFill>
                <a:latin typeface="Calibri"/>
              </a:rPr>
              <a:t>And it is the tie-breaker: when the stored answer and the live box disagree, this says which one is stale.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38912"/>
            <a:ext cx="10820095" cy="731520"/>
          </a:xfrm>
          <a:prstGeom prst="rect">
            <a:avLst/>
          </a:prstGeom>
          <a:noFill/>
        </p:spPr>
        <p:txBody>
          <a:bodyPr wrap="square" lIns="0" rIns="0" tIns="0" bIns="0" anchor="t">
            <a:spAutoFit/>
          </a:bodyPr>
          <a:lstStyle/>
          <a:p>
            <a:pPr algn="l">
              <a:lnSpc>
                <a:spcPct val="115000"/>
              </a:lnSpc>
              <a:spcAft>
                <a:spcPts val="0"/>
              </a:spcAft>
            </a:pPr>
            <a:r>
              <a:rPr sz="2800" b="0" i="0">
                <a:solidFill>
                  <a:srgbClr val="07161C"/>
                </a:solidFill>
                <a:latin typeface="Cambria"/>
              </a:rPr>
              <a:t>Everything the page does is the API</a:t>
            </a:r>
          </a:p>
        </p:txBody>
      </p:sp>
      <p:sp>
        <p:nvSpPr>
          <p:cNvPr id="4" name="TextBox 3"/>
          <p:cNvSpPr txBox="1"/>
          <p:nvPr/>
        </p:nvSpPr>
        <p:spPr>
          <a:xfrm>
            <a:off x="685800" y="1051560"/>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The page is one consumer of it; Prometheus is another; anything you write is a third.</a:t>
            </a:r>
          </a:p>
        </p:txBody>
      </p:sp>
      <p:sp>
        <p:nvSpPr>
          <p:cNvPr id="5" name="Rounded Rectangle 4"/>
          <p:cNvSpPr/>
          <p:nvPr/>
        </p:nvSpPr>
        <p:spPr>
          <a:xfrm>
            <a:off x="630936" y="1636776"/>
            <a:ext cx="7790688" cy="3939540"/>
          </a:xfrm>
          <a:prstGeom prst="roundRect">
            <a:avLst>
              <a:gd name="adj" fmla="val 938"/>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api.png"/>
          <p:cNvPicPr>
            <a:picLocks noChangeAspect="1"/>
          </p:cNvPicPr>
          <p:nvPr/>
        </p:nvPicPr>
        <p:blipFill>
          <a:blip r:embed="rId2"/>
          <a:stretch>
            <a:fillRect/>
          </a:stretch>
        </p:blipFill>
        <p:spPr>
          <a:xfrm>
            <a:off x="685800" y="1691640"/>
            <a:ext cx="7680960" cy="3829812"/>
          </a:xfrm>
          <a:prstGeom prst="rect">
            <a:avLst/>
          </a:prstGeom>
        </p:spPr>
      </p:pic>
      <p:sp>
        <p:nvSpPr>
          <p:cNvPr id="7" name="TextBox 6"/>
          <p:cNvSpPr txBox="1"/>
          <p:nvPr/>
        </p:nvSpPr>
        <p:spPr>
          <a:xfrm>
            <a:off x="685800" y="5667756"/>
            <a:ext cx="7680960"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GET /api/peers, as the page itself asks for it</a:t>
            </a:r>
          </a:p>
        </p:txBody>
      </p:sp>
      <p:sp>
        <p:nvSpPr>
          <p:cNvPr id="8" name="Rounded Rectangle 7"/>
          <p:cNvSpPr/>
          <p:nvPr/>
        </p:nvSpPr>
        <p:spPr>
          <a:xfrm>
            <a:off x="8778240" y="1691640"/>
            <a:ext cx="2727655" cy="3829812"/>
          </a:xfrm>
          <a:prstGeom prst="roundRect">
            <a:avLst>
              <a:gd name="adj" fmla="val 2865"/>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34272" y="1920240"/>
            <a:ext cx="2215591" cy="3372612"/>
          </a:xfrm>
          <a:prstGeom prst="rect">
            <a:avLst/>
          </a:prstGeom>
          <a:noFill/>
        </p:spPr>
        <p:txBody>
          <a:bodyPr wrap="square" lIns="0" rIns="0" tIns="0" bIns="0" anchor="t">
            <a:spAutoFit/>
          </a:bodyPr>
          <a:lstStyle/>
          <a:p>
            <a:pPr algn="l">
              <a:lnSpc>
                <a:spcPct val="130000"/>
              </a:lnSpc>
              <a:spcAft>
                <a:spcPts val="1000"/>
              </a:spcAft>
            </a:pPr>
            <a:r>
              <a:rPr sz="1400" b="1" i="0">
                <a:solidFill>
                  <a:srgbClr val="07161C"/>
                </a:solidFill>
                <a:latin typeface="Calibri"/>
              </a:rPr>
              <a:t>The read API</a:t>
            </a:r>
          </a:p>
          <a:p>
            <a:pPr algn="l">
              <a:lnSpc>
                <a:spcPct val="130000"/>
              </a:lnSpc>
              <a:spcAft>
                <a:spcPts val="900"/>
              </a:spcAft>
            </a:pPr>
            <a:r>
              <a:rPr sz="1250" b="0" i="0">
                <a:solidFill>
                  <a:srgbClr val="1F2937"/>
                </a:solidFill>
                <a:latin typeface="Calibri"/>
              </a:rPr>
              <a:t>/api/prefixes and /api/prefix — the table, and everything known about one prefix in every view.</a:t>
            </a:r>
          </a:p>
          <a:p>
            <a:pPr algn="l">
              <a:lnSpc>
                <a:spcPct val="130000"/>
              </a:lnSpc>
              <a:spcAft>
                <a:spcPts val="900"/>
              </a:spcAft>
            </a:pPr>
            <a:r>
              <a:rPr sz="1250" b="0" i="0">
                <a:solidFill>
                  <a:srgbClr val="1F2937"/>
                </a:solidFill>
                <a:latin typeface="Calibri"/>
              </a:rPr>
              <a:t>/api/path — the hop-by-hop reconstruction, from a vantage point you name.</a:t>
            </a:r>
          </a:p>
          <a:p>
            <a:pPr algn="l">
              <a:lnSpc>
                <a:spcPct val="130000"/>
              </a:lnSpc>
              <a:spcAft>
                <a:spcPts val="900"/>
              </a:spcAft>
            </a:pPr>
            <a:r>
              <a:rPr sz="1250" b="0" i="0">
                <a:solidFill>
                  <a:srgbClr val="1F2937"/>
                </a:solidFill>
                <a:latin typeface="Calibri"/>
              </a:rPr>
              <a:t>/api/state?at=… and /api/path?…&amp;at=… — the same answers, replayed to any moment in the window.</a:t>
            </a:r>
          </a:p>
          <a:p>
            <a:pPr algn="l">
              <a:lnSpc>
                <a:spcPct val="130000"/>
              </a:lnSpc>
              <a:spcAft>
                <a:spcPts val="0"/>
              </a:spcAft>
            </a:pPr>
            <a:r>
              <a:rPr sz="1250" b="0" i="0">
                <a:solidFill>
                  <a:srgbClr val="1F2937"/>
                </a:solidFill>
                <a:latin typeface="Calibri"/>
              </a:rPr>
              <a:t>/api/history, /api/routers, /api/peers and /api/query — and no write verb anywhere in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20095" cy="731520"/>
          </a:xfrm>
          <a:prstGeom prst="rect">
            <a:avLst/>
          </a:prstGeom>
          <a:noFill/>
        </p:spPr>
        <p:txBody>
          <a:bodyPr wrap="square" lIns="0" rIns="0" tIns="0" bIns="0" anchor="t">
            <a:spAutoFit/>
          </a:bodyPr>
          <a:lstStyle/>
          <a:p>
            <a:pPr algn="l">
              <a:lnSpc>
                <a:spcPct val="115000"/>
              </a:lnSpc>
              <a:spcAft>
                <a:spcPts val="0"/>
              </a:spcAft>
            </a:pPr>
            <a:r>
              <a:rPr sz="3000" b="0" i="0">
                <a:solidFill>
                  <a:srgbClr val="07161C"/>
                </a:solidFill>
                <a:latin typeface="Cambria"/>
              </a:rPr>
              <a:t>…and the numbers go to Prometheus</a:t>
            </a:r>
          </a:p>
        </p:txBody>
      </p:sp>
      <p:sp>
        <p:nvSpPr>
          <p:cNvPr id="4" name="TextBox 3"/>
          <p:cNvSpPr txBox="1"/>
          <p:nvPr/>
        </p:nvSpPr>
        <p:spPr>
          <a:xfrm>
            <a:off x="685800" y="1170432"/>
            <a:ext cx="10820095" cy="411480"/>
          </a:xfrm>
          <a:prstGeom prst="rect">
            <a:avLst/>
          </a:prstGeom>
          <a:noFill/>
        </p:spPr>
        <p:txBody>
          <a:bodyPr wrap="square" lIns="0" rIns="0" tIns="0" bIns="0" anchor="t">
            <a:spAutoFit/>
          </a:bodyPr>
          <a:lstStyle/>
          <a:p>
            <a:pPr algn="l">
              <a:lnSpc>
                <a:spcPct val="115000"/>
              </a:lnSpc>
              <a:spcAft>
                <a:spcPts val="0"/>
              </a:spcAft>
            </a:pPr>
            <a:r>
              <a:rPr sz="1350" b="0" i="0">
                <a:solidFill>
                  <a:srgbClr val="64748B"/>
                </a:solidFill>
                <a:latin typeface="Calibri"/>
              </a:rPr>
              <a:t>Paths and prefixes per node, source, transport, family, VRF and table — plus churn, session state and collection health.</a:t>
            </a:r>
          </a:p>
        </p:txBody>
      </p:sp>
      <p:sp>
        <p:nvSpPr>
          <p:cNvPr id="5" name="Rounded Rectangle 4"/>
          <p:cNvSpPr/>
          <p:nvPr/>
        </p:nvSpPr>
        <p:spPr>
          <a:xfrm>
            <a:off x="844157" y="1682495"/>
            <a:ext cx="10500637" cy="2395727"/>
          </a:xfrm>
          <a:prstGeom prst="roundRect">
            <a:avLst>
              <a:gd name="adj" fmla="val 696"/>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k-lg-metrics.png"/>
          <p:cNvPicPr>
            <a:picLocks noChangeAspect="1"/>
          </p:cNvPicPr>
          <p:nvPr/>
        </p:nvPicPr>
        <p:blipFill>
          <a:blip r:embed="rId2"/>
          <a:stretch>
            <a:fillRect/>
          </a:stretch>
        </p:blipFill>
        <p:spPr>
          <a:xfrm>
            <a:off x="899021" y="1737360"/>
            <a:ext cx="10390909" cy="2285999"/>
          </a:xfrm>
          <a:prstGeom prst="rect">
            <a:avLst/>
          </a:prstGeom>
        </p:spPr>
      </p:pic>
      <p:sp>
        <p:nvSpPr>
          <p:cNvPr id="7" name="TextBox 6"/>
          <p:cNvSpPr txBox="1"/>
          <p:nvPr/>
        </p:nvSpPr>
        <p:spPr>
          <a:xfrm>
            <a:off x="899021" y="4151375"/>
            <a:ext cx="10390909" cy="320040"/>
          </a:xfrm>
          <a:prstGeom prst="rect">
            <a:avLst/>
          </a:prstGeom>
          <a:noFill/>
        </p:spPr>
        <p:txBody>
          <a:bodyPr wrap="square" lIns="0" rIns="0" tIns="0" bIns="0" anchor="t">
            <a:spAutoFit/>
          </a:bodyPr>
          <a:lstStyle/>
          <a:p>
            <a:pPr algn="l">
              <a:lnSpc>
                <a:spcPct val="115000"/>
              </a:lnSpc>
              <a:spcAft>
                <a:spcPts val="0"/>
              </a:spcAft>
            </a:pPr>
            <a:r>
              <a:rPr sz="1100" b="0" i="0">
                <a:solidFill>
                  <a:srgbClr val="64748B"/>
                </a:solidFill>
                <a:latin typeface="Calibri"/>
              </a:rPr>
              <a:t>GET /metrics, scraped by the shared lab monitoring on the NMS</a:t>
            </a:r>
          </a:p>
        </p:txBody>
      </p:sp>
      <p:sp>
        <p:nvSpPr>
          <p:cNvPr id="8" name="Rounded Rectangle 7"/>
          <p:cNvSpPr/>
          <p:nvPr/>
        </p:nvSpPr>
        <p:spPr>
          <a:xfrm>
            <a:off x="685800" y="4590288"/>
            <a:ext cx="3361943" cy="176479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484632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One row per view</a:t>
            </a:r>
          </a:p>
        </p:txBody>
      </p:sp>
      <p:sp>
        <p:nvSpPr>
          <p:cNvPr id="10" name="TextBox 9"/>
          <p:cNvSpPr txBox="1"/>
          <p:nvPr/>
        </p:nvSpPr>
        <p:spPr>
          <a:xfrm>
            <a:off x="941832" y="5303520"/>
            <a:ext cx="2849879" cy="79552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The same breakdown the page shows, as a time series — so “when did pe3 stop holding tenant-a?” has a graph as well as a change log.</a:t>
            </a:r>
          </a:p>
        </p:txBody>
      </p:sp>
      <p:sp>
        <p:nvSpPr>
          <p:cNvPr id="11" name="Rounded Rectangle 10"/>
          <p:cNvSpPr/>
          <p:nvPr/>
        </p:nvSpPr>
        <p:spPr>
          <a:xfrm>
            <a:off x="4413504" y="4590288"/>
            <a:ext cx="3361943" cy="176479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9536" y="484632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A dashboard row</a:t>
            </a:r>
          </a:p>
        </p:txBody>
      </p:sp>
      <p:sp>
        <p:nvSpPr>
          <p:cNvPr id="13" name="TextBox 12"/>
          <p:cNvSpPr txBox="1"/>
          <p:nvPr/>
        </p:nvSpPr>
        <p:spPr>
          <a:xfrm>
            <a:off x="4669536" y="5303520"/>
            <a:ext cx="2849879" cy="79552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The shared Grafana has a looking-glass row built from these: paths over time, per transport, and the age of each router's last collection.</a:t>
            </a:r>
          </a:p>
        </p:txBody>
      </p:sp>
      <p:sp>
        <p:nvSpPr>
          <p:cNvPr id="14" name="Rounded Rectangle 13"/>
          <p:cNvSpPr/>
          <p:nvPr/>
        </p:nvSpPr>
        <p:spPr>
          <a:xfrm>
            <a:off x="8141207" y="4590288"/>
            <a:ext cx="3361943" cy="1764792"/>
          </a:xfrm>
          <a:prstGeom prst="roundRect">
            <a:avLst>
              <a:gd name="adj" fmla="val 3263"/>
            </a:avLst>
          </a:prstGeom>
          <a:solidFill>
            <a:srgbClr val="FFFFFF"/>
          </a:solidFill>
          <a:ln w="12700">
            <a:solidFill>
              <a:srgbClr val="DCE3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7239" y="4846320"/>
            <a:ext cx="2849879" cy="411480"/>
          </a:xfrm>
          <a:prstGeom prst="rect">
            <a:avLst/>
          </a:prstGeom>
          <a:noFill/>
        </p:spPr>
        <p:txBody>
          <a:bodyPr wrap="square" lIns="0" rIns="0" tIns="0" bIns="0" anchor="t">
            <a:spAutoFit/>
          </a:bodyPr>
          <a:lstStyle/>
          <a:p>
            <a:pPr algn="l">
              <a:lnSpc>
                <a:spcPct val="115000"/>
              </a:lnSpc>
              <a:spcAft>
                <a:spcPts val="0"/>
              </a:spcAft>
            </a:pPr>
            <a:r>
              <a:rPr sz="1400" b="0" i="0">
                <a:solidFill>
                  <a:srgbClr val="07161C"/>
                </a:solidFill>
                <a:latin typeface="Calibri"/>
              </a:rPr>
              <a:t>And three alerts</a:t>
            </a:r>
          </a:p>
        </p:txBody>
      </p:sp>
      <p:sp>
        <p:nvSpPr>
          <p:cNvPr id="16" name="TextBox 15"/>
          <p:cNvSpPr txBox="1"/>
          <p:nvPr/>
        </p:nvSpPr>
        <p:spPr>
          <a:xfrm>
            <a:off x="8397239" y="5303520"/>
            <a:ext cx="2849879" cy="795528"/>
          </a:xfrm>
          <a:prstGeom prst="rect">
            <a:avLst/>
          </a:prstGeom>
          <a:noFill/>
        </p:spPr>
        <p:txBody>
          <a:bodyPr wrap="square" lIns="0" rIns="0" tIns="0" bIns="0" anchor="t">
            <a:spAutoFit/>
          </a:bodyPr>
          <a:lstStyle/>
          <a:p>
            <a:pPr algn="l">
              <a:lnSpc>
                <a:spcPct val="135000"/>
              </a:lnSpc>
              <a:spcAft>
                <a:spcPts val="0"/>
              </a:spcAft>
            </a:pPr>
            <a:r>
              <a:rPr sz="1250" b="0" i="0">
                <a:solidFill>
                  <a:srgbClr val="1F2937"/>
                </a:solidFill>
                <a:latin typeface="Calibri"/>
              </a:rPr>
              <a:t>A reflector session down, a collection failing, and churn above its threshold — beside every other alert for the host.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22960"/>
            <a:ext cx="10515600" cy="822960"/>
          </a:xfrm>
          <a:prstGeom prst="rect">
            <a:avLst/>
          </a:prstGeom>
          <a:noFill/>
        </p:spPr>
        <p:txBody>
          <a:bodyPr wrap="square" lIns="0" rIns="0" tIns="0" bIns="0" anchor="t">
            <a:spAutoFit/>
          </a:bodyPr>
          <a:lstStyle/>
          <a:p>
            <a:pPr algn="l">
              <a:lnSpc>
                <a:spcPct val="115000"/>
              </a:lnSpc>
              <a:spcAft>
                <a:spcPts val="0"/>
              </a:spcAft>
            </a:pPr>
            <a:r>
              <a:rPr sz="3200" b="0" i="0">
                <a:solidFill>
                  <a:srgbClr val="FFFFFF"/>
                </a:solidFill>
                <a:latin typeface="Cambria"/>
              </a:rPr>
              <a:t>What it is for</a:t>
            </a:r>
          </a:p>
        </p:txBody>
      </p:sp>
      <p:sp>
        <p:nvSpPr>
          <p:cNvPr id="4" name="TextBox 3"/>
          <p:cNvSpPr txBox="1"/>
          <p:nvPr/>
        </p:nvSpPr>
        <p:spPr>
          <a:xfrm>
            <a:off x="822960" y="1572768"/>
            <a:ext cx="10515600" cy="457200"/>
          </a:xfrm>
          <a:prstGeom prst="rect">
            <a:avLst/>
          </a:prstGeom>
          <a:noFill/>
        </p:spPr>
        <p:txBody>
          <a:bodyPr wrap="square" lIns="0" rIns="0" tIns="0" bIns="0" anchor="t">
            <a:spAutoFit/>
          </a:bodyPr>
          <a:lstStyle/>
          <a:p>
            <a:pPr algn="l">
              <a:lnSpc>
                <a:spcPct val="115000"/>
              </a:lnSpc>
              <a:spcAft>
                <a:spcPts val="0"/>
              </a:spcAft>
            </a:pPr>
            <a:r>
              <a:rPr sz="1450" b="0" i="0">
                <a:solidFill>
                  <a:srgbClr val="BFD3DA"/>
                </a:solidFill>
                <a:latin typeface="Calibri"/>
              </a:rPr>
              <a:t>Three properties, and every one of them is a choice that shows up in the product.</a:t>
            </a:r>
          </a:p>
        </p:txBody>
      </p:sp>
      <p:sp>
        <p:nvSpPr>
          <p:cNvPr id="5" name="Rounded Rectangle 4"/>
          <p:cNvSpPr/>
          <p:nvPr/>
        </p:nvSpPr>
        <p:spPr>
          <a:xfrm>
            <a:off x="822960" y="2148840"/>
            <a:ext cx="3389376" cy="2743200"/>
          </a:xfrm>
          <a:prstGeom prst="roundRect">
            <a:avLst>
              <a:gd name="adj" fmla="val 3237"/>
            </a:avLst>
          </a:prstGeom>
          <a:solidFill>
            <a:srgbClr val="10303A"/>
          </a:solidFill>
          <a:ln w="12700">
            <a:solidFill>
              <a:srgbClr val="10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95728"/>
            <a:ext cx="2840736" cy="548640"/>
          </a:xfrm>
          <a:prstGeom prst="rect">
            <a:avLst/>
          </a:prstGeom>
          <a:noFill/>
        </p:spPr>
        <p:txBody>
          <a:bodyPr wrap="square" lIns="0" rIns="0" tIns="0" bIns="0" anchor="t">
            <a:spAutoFit/>
          </a:bodyPr>
          <a:lstStyle/>
          <a:p>
            <a:pPr algn="l">
              <a:lnSpc>
                <a:spcPct val="115000"/>
              </a:lnSpc>
              <a:spcAft>
                <a:spcPts val="0"/>
              </a:spcAft>
            </a:pPr>
            <a:r>
              <a:rPr sz="1600" b="0" i="0">
                <a:solidFill>
                  <a:srgbClr val="FFFFFF"/>
                </a:solidFill>
                <a:latin typeface="Cambria"/>
              </a:rPr>
              <a:t>The attributes, unaltered</a:t>
            </a:r>
          </a:p>
        </p:txBody>
      </p:sp>
      <p:sp>
        <p:nvSpPr>
          <p:cNvPr id="7" name="TextBox 6"/>
          <p:cNvSpPr txBox="1"/>
          <p:nvPr/>
        </p:nvSpPr>
        <p:spPr>
          <a:xfrm>
            <a:off x="1097280" y="3017520"/>
            <a:ext cx="2840736" cy="1645920"/>
          </a:xfrm>
          <a:prstGeom prst="rect">
            <a:avLst/>
          </a:prstGeom>
          <a:noFill/>
        </p:spPr>
        <p:txBody>
          <a:bodyPr wrap="square" lIns="0" rIns="0" tIns="0" bIns="0" anchor="t">
            <a:spAutoFit/>
          </a:bodyPr>
          <a:lstStyle/>
          <a:p>
            <a:pPr algn="l">
              <a:lnSpc>
                <a:spcPct val="130000"/>
              </a:lnSpc>
              <a:spcAft>
                <a:spcPts val="0"/>
              </a:spcAft>
            </a:pPr>
            <a:r>
              <a:rPr sz="1200" b="0" i="0">
                <a:solidFill>
                  <a:srgbClr val="BFD3DA"/>
                </a:solidFill>
                <a:latin typeface="Calibri"/>
              </a:rPr>
              <a:t>A reflector client sees the update the PE originated: route distinguisher, route targets, SRv6 SID, label, originator-id, cluster list, AS path. Nothing is parsed out of a screen, and extended-nexthop keeps the originating PE as the next hop.</a:t>
            </a:r>
          </a:p>
        </p:txBody>
      </p:sp>
      <p:sp>
        <p:nvSpPr>
          <p:cNvPr id="8" name="Rounded Rectangle 7"/>
          <p:cNvSpPr/>
          <p:nvPr/>
        </p:nvSpPr>
        <p:spPr>
          <a:xfrm>
            <a:off x="4395216" y="2148840"/>
            <a:ext cx="3389376" cy="2743200"/>
          </a:xfrm>
          <a:prstGeom prst="roundRect">
            <a:avLst>
              <a:gd name="adj" fmla="val 3237"/>
            </a:avLst>
          </a:prstGeom>
          <a:solidFill>
            <a:srgbClr val="10303A"/>
          </a:solidFill>
          <a:ln w="12700">
            <a:solidFill>
              <a:srgbClr val="10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9536" y="2395728"/>
            <a:ext cx="2840736" cy="548640"/>
          </a:xfrm>
          <a:prstGeom prst="rect">
            <a:avLst/>
          </a:prstGeom>
          <a:noFill/>
        </p:spPr>
        <p:txBody>
          <a:bodyPr wrap="square" lIns="0" rIns="0" tIns="0" bIns="0" anchor="t">
            <a:spAutoFit/>
          </a:bodyPr>
          <a:lstStyle/>
          <a:p>
            <a:pPr algn="l">
              <a:lnSpc>
                <a:spcPct val="115000"/>
              </a:lnSpc>
              <a:spcAft>
                <a:spcPts val="0"/>
              </a:spcAft>
            </a:pPr>
            <a:r>
              <a:rPr sz="1600" b="0" i="0">
                <a:solidFill>
                  <a:srgbClr val="FFFFFF"/>
                </a:solidFill>
                <a:latin typeface="Cambria"/>
              </a:rPr>
              <a:t>Every answer, labelled</a:t>
            </a:r>
          </a:p>
        </p:txBody>
      </p:sp>
      <p:sp>
        <p:nvSpPr>
          <p:cNvPr id="10" name="TextBox 9"/>
          <p:cNvSpPr txBox="1"/>
          <p:nvPr/>
        </p:nvSpPr>
        <p:spPr>
          <a:xfrm>
            <a:off x="4669536" y="3017520"/>
            <a:ext cx="2840736" cy="1645920"/>
          </a:xfrm>
          <a:prstGeom prst="rect">
            <a:avLst/>
          </a:prstGeom>
          <a:noFill/>
        </p:spPr>
        <p:txBody>
          <a:bodyPr wrap="square" lIns="0" rIns="0" tIns="0" bIns="0" anchor="t">
            <a:spAutoFit/>
          </a:bodyPr>
          <a:lstStyle/>
          <a:p>
            <a:pPr algn="l">
              <a:lnSpc>
                <a:spcPct val="130000"/>
              </a:lnSpc>
              <a:spcAft>
                <a:spcPts val="0"/>
              </a:spcAft>
            </a:pPr>
            <a:r>
              <a:rPr sz="1200" b="0" i="0">
                <a:solidFill>
                  <a:srgbClr val="BFD3DA"/>
                </a:solidFill>
                <a:latin typeface="Calibri"/>
              </a:rPr>
              <a:t>The core's table, each router's own tables and each router's RIB, side by side — with the transport each came over, because the same prefix seen two ways is two answers and hiding which is which makes both useless.</a:t>
            </a:r>
          </a:p>
        </p:txBody>
      </p:sp>
      <p:sp>
        <p:nvSpPr>
          <p:cNvPr id="11" name="Rounded Rectangle 10"/>
          <p:cNvSpPr/>
          <p:nvPr/>
        </p:nvSpPr>
        <p:spPr>
          <a:xfrm>
            <a:off x="7967472" y="2148840"/>
            <a:ext cx="3389376" cy="2743200"/>
          </a:xfrm>
          <a:prstGeom prst="roundRect">
            <a:avLst>
              <a:gd name="adj" fmla="val 3237"/>
            </a:avLst>
          </a:prstGeom>
          <a:solidFill>
            <a:srgbClr val="10303A"/>
          </a:solidFill>
          <a:ln w="12700">
            <a:solidFill>
              <a:srgbClr val="10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1792" y="2395728"/>
            <a:ext cx="2840736" cy="548640"/>
          </a:xfrm>
          <a:prstGeom prst="rect">
            <a:avLst/>
          </a:prstGeom>
          <a:noFill/>
        </p:spPr>
        <p:txBody>
          <a:bodyPr wrap="square" lIns="0" rIns="0" tIns="0" bIns="0" anchor="t">
            <a:spAutoFit/>
          </a:bodyPr>
          <a:lstStyle/>
          <a:p>
            <a:pPr algn="l">
              <a:lnSpc>
                <a:spcPct val="115000"/>
              </a:lnSpc>
              <a:spcAft>
                <a:spcPts val="0"/>
              </a:spcAft>
            </a:pPr>
            <a:r>
              <a:rPr sz="1600" b="0" i="0">
                <a:solidFill>
                  <a:srgbClr val="FFFFFF"/>
                </a:solidFill>
                <a:latin typeface="Cambria"/>
              </a:rPr>
              <a:t>And yesterday's answer too</a:t>
            </a:r>
          </a:p>
        </p:txBody>
      </p:sp>
      <p:sp>
        <p:nvSpPr>
          <p:cNvPr id="13" name="TextBox 12"/>
          <p:cNvSpPr txBox="1"/>
          <p:nvPr/>
        </p:nvSpPr>
        <p:spPr>
          <a:xfrm>
            <a:off x="8241792" y="3017520"/>
            <a:ext cx="2840736" cy="1645920"/>
          </a:xfrm>
          <a:prstGeom prst="rect">
            <a:avLst/>
          </a:prstGeom>
          <a:noFill/>
        </p:spPr>
        <p:txBody>
          <a:bodyPr wrap="square" lIns="0" rIns="0" tIns="0" bIns="0" anchor="t">
            <a:spAutoFit/>
          </a:bodyPr>
          <a:lstStyle/>
          <a:p>
            <a:pPr algn="l">
              <a:lnSpc>
                <a:spcPct val="130000"/>
              </a:lnSpc>
              <a:spcAft>
                <a:spcPts val="0"/>
              </a:spcAft>
            </a:pPr>
            <a:r>
              <a:rPr sz="1200" b="0" i="0">
                <a:solidFill>
                  <a:srgbClr val="BFD3DA"/>
                </a:solidFill>
                <a:latin typeface="Calibri"/>
              </a:rPr>
              <a:t>Reconciled history rather than samples: thirty days of announces, changes and withdraws, with every table and the path itself re-drawn for any moment in that window.</a:t>
            </a:r>
          </a:p>
        </p:txBody>
      </p:sp>
      <p:sp>
        <p:nvSpPr>
          <p:cNvPr id="14" name="TextBox 13"/>
          <p:cNvSpPr txBox="1"/>
          <p:nvPr/>
        </p:nvSpPr>
        <p:spPr>
          <a:xfrm>
            <a:off x="822960" y="5440679"/>
            <a:ext cx="10515600" cy="1005840"/>
          </a:xfrm>
          <a:prstGeom prst="rect">
            <a:avLst/>
          </a:prstGeom>
          <a:noFill/>
        </p:spPr>
        <p:txBody>
          <a:bodyPr wrap="square" lIns="0" rIns="0" tIns="0" bIns="0" anchor="t">
            <a:spAutoFit/>
          </a:bodyPr>
          <a:lstStyle/>
          <a:p>
            <a:pPr algn="l">
              <a:lnSpc>
                <a:spcPct val="135000"/>
              </a:lnSpc>
              <a:spcAft>
                <a:spcPts val="0"/>
              </a:spcAft>
            </a:pPr>
            <a:r>
              <a:rPr sz="1300" b="0" i="0">
                <a:solidFill>
                  <a:srgbClr val="7E97A1"/>
                </a:solidFill>
                <a:latin typeface="Calibri"/>
              </a:rPr>
              <a:t>http://192.168.50.231:8092 · the lab-side address is http://10.3.0.70:8080 · ./lab.sh lg status · the code is lg/ in this repository.
A 3½-minute walkthrough of the same ground is docs/demo/lg-demo.mp4; the portal and the core are in docs/srv6-workflows.pptx.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